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256" r:id="rId2"/>
    <p:sldId id="273" r:id="rId3"/>
    <p:sldId id="274" r:id="rId4"/>
    <p:sldId id="275" r:id="rId5"/>
    <p:sldId id="276" r:id="rId6"/>
    <p:sldId id="277" r:id="rId7"/>
    <p:sldId id="278" r:id="rId8"/>
    <p:sldId id="272" r:id="rId9"/>
  </p:sldIdLst>
  <p:sldSz cx="10693400" cy="7561263"/>
  <p:notesSz cx="9874250" cy="6797675"/>
  <p:defaultTextStyle>
    <a:defPPr>
      <a:defRPr lang="ko-KR"/>
    </a:defPPr>
    <a:lvl1pPr marL="0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497845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995690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493535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1991380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489225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2987070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484916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3982761" algn="l" defTabSz="995690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82">
          <p15:clr>
            <a:srgbClr val="A4A3A4"/>
          </p15:clr>
        </p15:guide>
        <p15:guide id="2" pos="3368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7405"/>
    <a:srgbClr val="E78B0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76056" autoAdjust="0"/>
  </p:normalViewPr>
  <p:slideViewPr>
    <p:cSldViewPr>
      <p:cViewPr varScale="1">
        <p:scale>
          <a:sx n="44" d="100"/>
          <a:sy n="44" d="100"/>
        </p:scale>
        <p:origin x="1704" y="44"/>
      </p:cViewPr>
      <p:guideLst>
        <p:guide orient="horz" pos="2382"/>
        <p:guide pos="33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9918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5592027" y="0"/>
            <a:ext cx="4279918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C65444-5612-4993-A297-66E4EA569180}" type="datetime1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6456699"/>
            <a:ext cx="4279918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5592027" y="6456699"/>
            <a:ext cx="4279918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B70AE1-31D9-4381-959D-9050CC0FE9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483060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593126" y="0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D3867D-DA73-4C30-B686-2D05E2BBC364}" type="datetime1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133725" y="509588"/>
            <a:ext cx="3606800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87426" y="3228896"/>
            <a:ext cx="7899400" cy="30589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" y="6456612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593126" y="6456612"/>
            <a:ext cx="4278841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0A336D-49A4-4170-8C35-7E5BA4D4E5E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1469154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37444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en-US" dirty="0"/>
              <a:t>This week, I learned from R scripts provided by </a:t>
            </a:r>
            <a:r>
              <a:rPr lang="en-US" dirty="0" err="1"/>
              <a:t>DieuNi</a:t>
            </a:r>
            <a:r>
              <a:rPr lang="en-US" dirty="0"/>
              <a:t> and Joel. After that, I started </a:t>
            </a:r>
            <a:r>
              <a:rPr lang="en-US" b="1" dirty="0"/>
              <a:t>Preprocessing</a:t>
            </a:r>
            <a:r>
              <a:rPr lang="en-US" dirty="0"/>
              <a:t> with</a:t>
            </a:r>
          </a:p>
          <a:p>
            <a:pPr algn="l"/>
            <a:endParaRPr lang="en-US" altLang="ko-KR" b="0" i="0" dirty="0">
              <a:effectLst/>
              <a:latin typeface="fkGrotesk"/>
            </a:endParaRPr>
          </a:p>
          <a:p>
            <a:pPr algn="l"/>
            <a:r>
              <a:rPr lang="en-US" dirty="0"/>
              <a:t>Next, I started filtering for participants who had </a:t>
            </a:r>
            <a:r>
              <a:rPr lang="en-US" b="1" dirty="0"/>
              <a:t>two or more longitudinal visits</a:t>
            </a:r>
            <a:r>
              <a:rPr lang="en-US" dirty="0"/>
              <a:t>, resulting in a total of </a:t>
            </a:r>
            <a:r>
              <a:rPr lang="en-US" b="1" dirty="0"/>
              <a:t>349 participants</a:t>
            </a:r>
            <a:r>
              <a:rPr lang="en-US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59901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Below are the subgroups. I will begin with </a:t>
            </a:r>
            <a:r>
              <a:rPr lang="en-US" b="1" dirty="0"/>
              <a:t>Stable CN</a:t>
            </a:r>
            <a:r>
              <a:rPr lang="en-US" dirty="0"/>
              <a:t> (Cognitively Normal) and </a:t>
            </a:r>
            <a:r>
              <a:rPr lang="en-US" b="1" dirty="0"/>
              <a:t>Progressive CN</a:t>
            </a:r>
            <a:r>
              <a:rPr lang="en-US" dirty="0"/>
              <a:t>. However, the sample size for Progressive CN is quite small. Therefore, I'm including </a:t>
            </a:r>
            <a:r>
              <a:rPr lang="en-US" b="1" dirty="0"/>
              <a:t>intermediate converters</a:t>
            </a:r>
            <a:r>
              <a:rPr lang="en-US" dirty="0"/>
              <a:t> to add </a:t>
            </a:r>
            <a:r>
              <a:rPr lang="en-US" b="1" dirty="0"/>
              <a:t>6 subjects</a:t>
            </a:r>
            <a:r>
              <a:rPr lang="en-US" dirty="0"/>
              <a:t>, increasing the current number to </a:t>
            </a:r>
            <a:r>
              <a:rPr lang="en-US" b="1" dirty="0"/>
              <a:t>27</a:t>
            </a:r>
            <a:r>
              <a:rPr lang="en-US" dirty="0"/>
              <a:t>. I then filtered further by excluding subjects with less than </a:t>
            </a:r>
            <a:r>
              <a:rPr lang="en-US" b="1" dirty="0"/>
              <a:t>11 months</a:t>
            </a:r>
            <a:r>
              <a:rPr lang="en-US" dirty="0"/>
              <a:t> of follow-up. The current total is </a:t>
            </a:r>
            <a:r>
              <a:rPr lang="en-US" b="1" dirty="0"/>
              <a:t>25</a:t>
            </a:r>
            <a:r>
              <a:rPr lang="en-US" dirty="0"/>
              <a:t>.</a:t>
            </a:r>
          </a:p>
          <a:p>
            <a:endParaRPr lang="en-US" altLang="ko-KR" dirty="0"/>
          </a:p>
          <a:p>
            <a:r>
              <a:rPr lang="en-US" dirty="0"/>
              <a:t>I would like to ask the professor for an opinion on the </a:t>
            </a:r>
            <a:r>
              <a:rPr lang="en-US" b="1" dirty="0"/>
              <a:t>11-month filtering threshold</a:t>
            </a:r>
            <a:r>
              <a:rPr lang="en-US" dirty="0"/>
              <a:t>. I believe that below this threshold, specifically, there are </a:t>
            </a:r>
            <a:r>
              <a:rPr lang="en-US" b="1" dirty="0"/>
              <a:t>some subjects with a follow-up duration of 3 to 6 or 8 months</a:t>
            </a:r>
            <a:r>
              <a:rPr lang="en-US" dirty="0"/>
              <a:t>. Is that cutoff appropriate?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216393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Next, I proceeded to </a:t>
            </a:r>
            <a:r>
              <a:rPr lang="en-US" b="1" dirty="0"/>
              <a:t>compare the two groups at baseline</a:t>
            </a:r>
            <a:r>
              <a:rPr lang="en-US" dirty="0"/>
              <a:t>. I first performed the </a:t>
            </a:r>
            <a:r>
              <a:rPr lang="en-US" b="1" dirty="0"/>
              <a:t>Shapiro test</a:t>
            </a:r>
            <a:r>
              <a:rPr lang="en-US" dirty="0"/>
              <a:t>, and then selected either the </a:t>
            </a:r>
            <a:r>
              <a:rPr lang="en-US" b="1" dirty="0"/>
              <a:t>t-test</a:t>
            </a:r>
            <a:r>
              <a:rPr lang="en-US" dirty="0"/>
              <a:t> or the </a:t>
            </a:r>
            <a:r>
              <a:rPr lang="en-US" b="1" dirty="0"/>
              <a:t>U-test</a:t>
            </a:r>
            <a:r>
              <a:rPr lang="en-US" dirty="0"/>
              <a:t> for each </a:t>
            </a:r>
            <a:r>
              <a:rPr lang="en-US" b="1" dirty="0"/>
              <a:t>continuous variable</a:t>
            </a:r>
            <a:r>
              <a:rPr lang="en-US" dirty="0"/>
              <a:t>, and the </a:t>
            </a:r>
            <a:r>
              <a:rPr lang="en-US" b="1" dirty="0"/>
              <a:t>Chi-squared test</a:t>
            </a:r>
            <a:r>
              <a:rPr lang="en-US" dirty="0"/>
              <a:t> for the </a:t>
            </a:r>
            <a:r>
              <a:rPr lang="en-US" b="1" dirty="0"/>
              <a:t>categorical variables</a:t>
            </a:r>
            <a:r>
              <a:rPr lang="en-US" dirty="0"/>
              <a:t>.</a:t>
            </a:r>
          </a:p>
          <a:p>
            <a:endParaRPr lang="en-US" altLang="ko-KR" dirty="0"/>
          </a:p>
          <a:p>
            <a:r>
              <a:rPr lang="en-US" dirty="0"/>
              <a:t>The preliminary show </a:t>
            </a:r>
            <a:r>
              <a:rPr lang="en-US" b="1" dirty="0"/>
              <a:t>statistically significant differences</a:t>
            </a:r>
            <a:r>
              <a:rPr lang="en-US" dirty="0"/>
              <a:t> in </a:t>
            </a:r>
            <a:r>
              <a:rPr lang="en-US" b="1" dirty="0"/>
              <a:t>height</a:t>
            </a:r>
            <a:r>
              <a:rPr lang="en-US" dirty="0"/>
              <a:t> and </a:t>
            </a:r>
            <a:r>
              <a:rPr lang="en-US" b="1" dirty="0"/>
              <a:t>years of education</a:t>
            </a:r>
            <a:r>
              <a:rPr lang="en-US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391279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Next, I used </a:t>
            </a:r>
            <a:r>
              <a:rPr lang="en-US" b="1" dirty="0"/>
              <a:t>ANCOVA</a:t>
            </a:r>
            <a:r>
              <a:rPr lang="en-US" dirty="0"/>
              <a:t> to </a:t>
            </a:r>
            <a:r>
              <a:rPr lang="en-US" b="1" dirty="0"/>
              <a:t>evaluate the BIA variables between the two groups upon</a:t>
            </a:r>
            <a:r>
              <a:rPr lang="en-US" dirty="0">
                <a:latin typeface="fkGrotesk"/>
              </a:rPr>
              <a:t> controlling for age, sex, education &amp; GDS score</a:t>
            </a:r>
            <a:r>
              <a:rPr lang="en-US" dirty="0"/>
              <a:t>, as shown in </a:t>
            </a:r>
            <a:r>
              <a:rPr lang="en-US" b="1" dirty="0"/>
              <a:t>Tables 2 and 3</a:t>
            </a:r>
            <a:r>
              <a:rPr lang="en-US" dirty="0"/>
              <a:t>. Currently, the only baseline difference is observed in </a:t>
            </a:r>
            <a:r>
              <a:rPr lang="en-US" b="1" dirty="0"/>
              <a:t>Water Lean (upper)</a:t>
            </a:r>
            <a:r>
              <a:rPr lang="en-US" dirty="0"/>
              <a:t>.</a:t>
            </a:r>
            <a:endParaRPr lang="ko-KR" altLang="en-US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96949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7F39C-441D-FA28-4E72-06E6B1A18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6A21CD1-C119-4244-2AEF-06F6B6C8F7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DAE7CA-1C92-E027-DFF0-7387611472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92078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EE16D-2BE5-6629-074D-05C863993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16EDE7-7DA9-47BE-33DC-1922DB2531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E616F2-2512-BE7B-6958-3C1125822C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week, I will continue the data analysis using </a:t>
            </a:r>
            <a:r>
              <a:rPr lang="en-US" b="1" dirty="0"/>
              <a:t>Linear Mixed Effects (LME)</a:t>
            </a:r>
            <a:r>
              <a:rPr lang="en-US" dirty="0"/>
              <a:t> models.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873504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56472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306140" y="1260351"/>
            <a:ext cx="10009112" cy="5400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="1" baseline="0">
                <a:latin typeface="HY중고딕" pitchFamily="18" charset="-127"/>
                <a:ea typeface="HY중고딕" pitchFamily="18" charset="-127"/>
              </a:defRPr>
            </a:lvl1pPr>
            <a:lvl2pPr marL="497845" indent="0">
              <a:buNone/>
              <a:defRPr sz="2800">
                <a:latin typeface="HY중고딕" pitchFamily="18" charset="-127"/>
                <a:ea typeface="HY중고딕" pitchFamily="18" charset="-127"/>
              </a:defRPr>
            </a:lvl2pPr>
            <a:lvl3pPr>
              <a:defRPr sz="2500">
                <a:latin typeface="HY중고딕" pitchFamily="18" charset="-127"/>
                <a:ea typeface="HY중고딕" pitchFamily="18" charset="-127"/>
              </a:defRPr>
            </a:lvl3pPr>
            <a:lvl4pPr marL="1493535" indent="0">
              <a:buNone/>
              <a:defRPr sz="2500">
                <a:latin typeface="HY중고딕" pitchFamily="18" charset="-127"/>
                <a:ea typeface="HY중고딕" pitchFamily="18" charset="-127"/>
              </a:defRPr>
            </a:lvl4pPr>
            <a:lvl5pPr>
              <a:defRPr sz="2500">
                <a:latin typeface="HY중고딕" pitchFamily="18" charset="-127"/>
                <a:ea typeface="HY중고딕" pitchFamily="18" charset="-127"/>
              </a:defRPr>
            </a:lvl5pPr>
          </a:lstStyle>
          <a:p>
            <a:pPr lvl="0"/>
            <a:r>
              <a:rPr lang="ko-KR" altLang="en-US" dirty="0"/>
              <a:t>□ 첫째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30, </a:t>
            </a:r>
            <a:r>
              <a:rPr lang="ko-KR" altLang="en-US" dirty="0"/>
              <a:t>굵게</a:t>
            </a:r>
            <a:r>
              <a:rPr lang="en-US" altLang="ko-KR" dirty="0"/>
              <a:t>)</a:t>
            </a:r>
            <a:endParaRPr lang="ko-KR" altLang="en-US" dirty="0"/>
          </a:p>
          <a:p>
            <a:pPr lvl="1"/>
            <a:r>
              <a:rPr lang="en-US" altLang="ko-KR" dirty="0"/>
              <a:t>-</a:t>
            </a:r>
            <a:r>
              <a:rPr lang="ko-KR" altLang="en-US" dirty="0"/>
              <a:t> 둘째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28)</a:t>
            </a:r>
            <a:endParaRPr lang="ko-KR" altLang="en-US" dirty="0"/>
          </a:p>
          <a:p>
            <a:pPr lvl="2"/>
            <a:r>
              <a:rPr lang="ko-KR" altLang="en-US" dirty="0"/>
              <a:t>셋째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  <a:p>
            <a:pPr lvl="3"/>
            <a:r>
              <a:rPr lang="en-US" altLang="ko-KR" dirty="0"/>
              <a:t>- </a:t>
            </a:r>
            <a:r>
              <a:rPr lang="ko-KR" altLang="en-US" dirty="0"/>
              <a:t>넷째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23EF1-6E1E-49A8-89C7-5D842E70784B}" type="datetime1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97EC8-03FB-421D-BA76-5865596B8B77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306140" y="91456"/>
            <a:ext cx="8496944" cy="736847"/>
          </a:xfrm>
          <a:prstGeom prst="rect">
            <a:avLst/>
          </a:prstGeom>
        </p:spPr>
        <p:txBody>
          <a:bodyPr anchor="ctr"/>
          <a:lstStyle>
            <a:lvl1pPr algn="l">
              <a:defRPr sz="3000" b="0">
                <a:latin typeface="HY견고딕" pitchFamily="18" charset="-127"/>
                <a:ea typeface="HY견고딕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r>
              <a:rPr lang="en-US" altLang="ko-KR" dirty="0"/>
              <a:t>(HY</a:t>
            </a:r>
            <a:r>
              <a:rPr lang="ko-KR" altLang="en-US" dirty="0"/>
              <a:t>견고딕</a:t>
            </a:r>
            <a:r>
              <a:rPr lang="en-US" altLang="ko-KR" dirty="0"/>
              <a:t>, 30)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306140" y="1260351"/>
            <a:ext cx="10009112" cy="5400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="1" baseline="0">
                <a:latin typeface="HY중고딕" pitchFamily="18" charset="-127"/>
                <a:ea typeface="HY중고딕" pitchFamily="18" charset="-127"/>
              </a:defRPr>
            </a:lvl1pPr>
            <a:lvl2pPr marL="497845" indent="0">
              <a:buNone/>
              <a:defRPr sz="2800">
                <a:latin typeface="HY중고딕" pitchFamily="18" charset="-127"/>
                <a:ea typeface="HY중고딕" pitchFamily="18" charset="-127"/>
              </a:defRPr>
            </a:lvl2pPr>
            <a:lvl3pPr>
              <a:defRPr sz="2500">
                <a:latin typeface="HY중고딕" pitchFamily="18" charset="-127"/>
                <a:ea typeface="HY중고딕" pitchFamily="18" charset="-127"/>
              </a:defRPr>
            </a:lvl3pPr>
            <a:lvl4pPr marL="1493535" indent="0">
              <a:buNone/>
              <a:defRPr sz="2500">
                <a:latin typeface="HY중고딕" pitchFamily="18" charset="-127"/>
                <a:ea typeface="HY중고딕" pitchFamily="18" charset="-127"/>
              </a:defRPr>
            </a:lvl4pPr>
            <a:lvl5pPr>
              <a:defRPr sz="2500">
                <a:latin typeface="HY중고딕" pitchFamily="18" charset="-127"/>
                <a:ea typeface="HY중고딕" pitchFamily="18" charset="-127"/>
              </a:defRPr>
            </a:lvl5pPr>
          </a:lstStyle>
          <a:p>
            <a:pPr lvl="0"/>
            <a:r>
              <a:rPr lang="ko-KR" altLang="en-US" dirty="0"/>
              <a:t>□ 첫째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30, </a:t>
            </a:r>
            <a:r>
              <a:rPr lang="ko-KR" altLang="en-US" dirty="0"/>
              <a:t>굵게</a:t>
            </a:r>
            <a:r>
              <a:rPr lang="en-US" altLang="ko-KR" dirty="0"/>
              <a:t>)</a:t>
            </a:r>
            <a:endParaRPr lang="ko-KR" altLang="en-US" dirty="0"/>
          </a:p>
          <a:p>
            <a:pPr lvl="1"/>
            <a:r>
              <a:rPr lang="en-US" altLang="ko-KR" dirty="0"/>
              <a:t>-</a:t>
            </a:r>
            <a:r>
              <a:rPr lang="ko-KR" altLang="en-US" dirty="0"/>
              <a:t> 둘째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28)</a:t>
            </a:r>
            <a:endParaRPr lang="ko-KR" altLang="en-US" dirty="0"/>
          </a:p>
          <a:p>
            <a:pPr lvl="2"/>
            <a:r>
              <a:rPr lang="ko-KR" altLang="en-US" dirty="0"/>
              <a:t>셋째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  <a:p>
            <a:pPr lvl="3"/>
            <a:r>
              <a:rPr lang="en-US" altLang="ko-KR" dirty="0"/>
              <a:t>- </a:t>
            </a:r>
            <a:r>
              <a:rPr lang="ko-KR" altLang="en-US" dirty="0"/>
              <a:t>넷째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89D9B9-AAC4-4186-832C-ACCB8141D63A}" type="datetime1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97EC8-03FB-421D-BA76-5865596B8B77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4409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4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306140" y="91456"/>
            <a:ext cx="8496944" cy="736847"/>
          </a:xfrm>
          <a:prstGeom prst="rect">
            <a:avLst/>
          </a:prstGeom>
        </p:spPr>
        <p:txBody>
          <a:bodyPr anchor="ctr"/>
          <a:lstStyle>
            <a:lvl1pPr algn="l">
              <a:defRPr sz="3000" b="0">
                <a:latin typeface="HY견고딕" pitchFamily="18" charset="-127"/>
                <a:ea typeface="HY견고딕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r>
              <a:rPr lang="en-US" altLang="ko-KR" dirty="0"/>
              <a:t>(HY</a:t>
            </a:r>
            <a:r>
              <a:rPr lang="ko-KR" altLang="en-US" dirty="0"/>
              <a:t>견고딕</a:t>
            </a:r>
            <a:r>
              <a:rPr lang="en-US" altLang="ko-KR" dirty="0"/>
              <a:t>, 30)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306140" y="1260351"/>
            <a:ext cx="10009112" cy="5400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="1" baseline="0">
                <a:latin typeface="HY중고딕" pitchFamily="18" charset="-127"/>
                <a:ea typeface="HY중고딕" pitchFamily="18" charset="-127"/>
              </a:defRPr>
            </a:lvl1pPr>
            <a:lvl2pPr marL="497845" indent="0">
              <a:buNone/>
              <a:defRPr sz="2800">
                <a:latin typeface="HY중고딕" pitchFamily="18" charset="-127"/>
                <a:ea typeface="HY중고딕" pitchFamily="18" charset="-127"/>
              </a:defRPr>
            </a:lvl2pPr>
            <a:lvl3pPr>
              <a:defRPr sz="2500">
                <a:latin typeface="HY중고딕" pitchFamily="18" charset="-127"/>
                <a:ea typeface="HY중고딕" pitchFamily="18" charset="-127"/>
              </a:defRPr>
            </a:lvl3pPr>
            <a:lvl4pPr marL="1493535" indent="0">
              <a:buNone/>
              <a:defRPr sz="2500">
                <a:latin typeface="HY중고딕" pitchFamily="18" charset="-127"/>
                <a:ea typeface="HY중고딕" pitchFamily="18" charset="-127"/>
              </a:defRPr>
            </a:lvl4pPr>
            <a:lvl5pPr>
              <a:defRPr sz="2500">
                <a:latin typeface="HY중고딕" pitchFamily="18" charset="-127"/>
                <a:ea typeface="HY중고딕" pitchFamily="18" charset="-127"/>
              </a:defRPr>
            </a:lvl5pPr>
          </a:lstStyle>
          <a:p>
            <a:pPr lvl="0"/>
            <a:r>
              <a:rPr lang="ko-KR" altLang="en-US" dirty="0"/>
              <a:t>□ 첫째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30, </a:t>
            </a:r>
            <a:r>
              <a:rPr lang="ko-KR" altLang="en-US" dirty="0"/>
              <a:t>굵게</a:t>
            </a:r>
            <a:r>
              <a:rPr lang="en-US" altLang="ko-KR" dirty="0"/>
              <a:t>)</a:t>
            </a:r>
            <a:endParaRPr lang="ko-KR" altLang="en-US" dirty="0"/>
          </a:p>
          <a:p>
            <a:pPr lvl="1"/>
            <a:r>
              <a:rPr lang="en-US" altLang="ko-KR" dirty="0"/>
              <a:t>-</a:t>
            </a:r>
            <a:r>
              <a:rPr lang="ko-KR" altLang="en-US" dirty="0"/>
              <a:t> 둘째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28)</a:t>
            </a:r>
            <a:endParaRPr lang="ko-KR" altLang="en-US" dirty="0"/>
          </a:p>
          <a:p>
            <a:pPr lvl="2"/>
            <a:r>
              <a:rPr lang="ko-KR" altLang="en-US" dirty="0"/>
              <a:t>셋째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  <a:p>
            <a:pPr lvl="3"/>
            <a:r>
              <a:rPr lang="en-US" altLang="ko-KR" dirty="0"/>
              <a:t>- </a:t>
            </a:r>
            <a:r>
              <a:rPr lang="ko-KR" altLang="en-US" dirty="0"/>
              <a:t>넷째 수준 </a:t>
            </a:r>
            <a:r>
              <a:rPr lang="en-US" altLang="ko-KR" dirty="0"/>
              <a:t>(HY</a:t>
            </a:r>
            <a:r>
              <a:rPr lang="ko-KR" altLang="en-US" dirty="0"/>
              <a:t>중고딕</a:t>
            </a:r>
            <a:r>
              <a:rPr lang="en-US" altLang="ko-KR" dirty="0"/>
              <a:t>, 25)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89D9B9-AAC4-4186-832C-ACCB8141D63A}" type="datetime1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597EC8-03FB-421D-BA76-5865596B8B77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6781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jp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4670" y="7008172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lvl1pPr algn="l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B6FB339-8C5D-44DF-A368-296A032EEE0C}" type="datetime1">
              <a:rPr lang="ko-KR" altLang="en-US" smtClean="0"/>
              <a:t>2025-11-07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653579" y="7008172"/>
            <a:ext cx="3386243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lvl1pPr algn="ct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7663603" y="7008172"/>
            <a:ext cx="2495127" cy="402567"/>
          </a:xfrm>
          <a:prstGeom prst="rect">
            <a:avLst/>
          </a:prstGeom>
        </p:spPr>
        <p:txBody>
          <a:bodyPr vert="horz" lIns="99569" tIns="49785" rIns="99569" bIns="49785" rtlCol="0" anchor="ctr"/>
          <a:lstStyle>
            <a:lvl1pPr algn="r">
              <a:defRPr sz="13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597EC8-03FB-421D-BA76-5865596B8B77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4" r:id="rId2"/>
    <p:sldLayoutId id="2147483655" r:id="rId3"/>
  </p:sldLayoutIdLst>
  <p:hf hdr="0" ftr="0" dt="0"/>
  <p:txStyles>
    <p:titleStyle>
      <a:lvl1pPr algn="ctr" defTabSz="995690" rtl="0" eaLnBrk="1" latinLnBrk="1" hangingPunct="1">
        <a:spcBef>
          <a:spcPct val="0"/>
        </a:spcBef>
        <a:buNone/>
        <a:defRPr sz="4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3384" indent="-373384" algn="l" defTabSz="995690" rtl="0" eaLnBrk="1" latinLnBrk="1" hangingPunct="1">
        <a:spcBef>
          <a:spcPct val="20000"/>
        </a:spcBef>
        <a:buFont typeface="Arial" pitchFamily="34" charset="0"/>
        <a:buChar char="•"/>
        <a:defRPr sz="3500" kern="1200">
          <a:solidFill>
            <a:schemeClr val="tx1"/>
          </a:solidFill>
          <a:latin typeface="+mn-lt"/>
          <a:ea typeface="+mn-ea"/>
          <a:cs typeface="+mn-cs"/>
        </a:defRPr>
      </a:lvl1pPr>
      <a:lvl2pPr marL="808998" indent="-311153" algn="l" defTabSz="995690" rtl="0" eaLnBrk="1" latinLnBrk="1" hangingPunct="1">
        <a:spcBef>
          <a:spcPct val="20000"/>
        </a:spcBef>
        <a:buFont typeface="Arial" pitchFamily="34" charset="0"/>
        <a:buChar char="–"/>
        <a:defRPr sz="3000" kern="1200">
          <a:solidFill>
            <a:schemeClr val="tx1"/>
          </a:solidFill>
          <a:latin typeface="+mn-lt"/>
          <a:ea typeface="+mn-ea"/>
          <a:cs typeface="+mn-cs"/>
        </a:defRPr>
      </a:lvl2pPr>
      <a:lvl3pPr marL="1244613" indent="-248923" algn="l" defTabSz="995690" rtl="0" eaLnBrk="1" latinLnBrk="1" hangingPunct="1">
        <a:spcBef>
          <a:spcPct val="20000"/>
        </a:spcBef>
        <a:buFont typeface="Arial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42458" indent="-248923" algn="l" defTabSz="995690" rtl="0" eaLnBrk="1" latinLnBrk="1" hangingPunct="1">
        <a:spcBef>
          <a:spcPct val="20000"/>
        </a:spcBef>
        <a:buFont typeface="Arial" pitchFamily="34" charset="0"/>
        <a:buChar char="–"/>
        <a:defRPr sz="2200" kern="1200">
          <a:solidFill>
            <a:schemeClr val="tx1"/>
          </a:solidFill>
          <a:latin typeface="+mn-lt"/>
          <a:ea typeface="+mn-ea"/>
          <a:cs typeface="+mn-cs"/>
        </a:defRPr>
      </a:lvl4pPr>
      <a:lvl5pPr marL="2240303" indent="-248923" algn="l" defTabSz="995690" rtl="0" eaLnBrk="1" latinLnBrk="1" hangingPunct="1">
        <a:spcBef>
          <a:spcPct val="20000"/>
        </a:spcBef>
        <a:buFont typeface="Arial" pitchFamily="34" charset="0"/>
        <a:buChar char="»"/>
        <a:defRPr sz="2200" kern="1200">
          <a:solidFill>
            <a:schemeClr val="tx1"/>
          </a:solidFill>
          <a:latin typeface="+mn-lt"/>
          <a:ea typeface="+mn-ea"/>
          <a:cs typeface="+mn-cs"/>
        </a:defRPr>
      </a:lvl5pPr>
      <a:lvl6pPr marL="2738148" indent="-248923" algn="l" defTabSz="995690" rtl="0" eaLnBrk="1" latinLnBrk="1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6pPr>
      <a:lvl7pPr marL="3235993" indent="-248923" algn="l" defTabSz="995690" rtl="0" eaLnBrk="1" latinLnBrk="1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7pPr>
      <a:lvl8pPr marL="3733838" indent="-248923" algn="l" defTabSz="995690" rtl="0" eaLnBrk="1" latinLnBrk="1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8pPr>
      <a:lvl9pPr marL="4231683" indent="-248923" algn="l" defTabSz="995690" rtl="0" eaLnBrk="1" latinLnBrk="1" hangingPunct="1">
        <a:spcBef>
          <a:spcPct val="20000"/>
        </a:spcBef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7845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95690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93535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991380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489225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87070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84916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82761" algn="l" defTabSz="995690" rtl="0" eaLnBrk="1" latinLnBrk="1" hangingPunct="1"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274734" y="2700511"/>
            <a:ext cx="82153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altLang="ko-KR" sz="2800" b="1" i="0" dirty="0">
                <a:effectLst/>
                <a:latin typeface="fkGrotesk"/>
              </a:rPr>
              <a:t>Longitudinal Bio-Impedance Study in </a:t>
            </a:r>
            <a:r>
              <a:rPr lang="en-GB" altLang="ko-KR" sz="2800" b="1">
                <a:latin typeface="fkGrotesk"/>
              </a:rPr>
              <a:t>MCI progressive</a:t>
            </a:r>
            <a:endParaRPr lang="en-GB" altLang="ko-KR" sz="2800" b="1" i="0" dirty="0">
              <a:effectLst/>
              <a:latin typeface="fkGrotesk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275130" y="4140671"/>
            <a:ext cx="5214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altLang="ko-KR" b="1" dirty="0">
                <a:latin typeface="fkGrotesk"/>
              </a:rPr>
              <a:t>Lab Meeting </a:t>
            </a:r>
          </a:p>
          <a:p>
            <a:pPr algn="r"/>
            <a:r>
              <a:rPr lang="en-GB" altLang="ko-KR" sz="2000" i="0" dirty="0">
                <a:effectLst/>
                <a:latin typeface="fkGrotesk"/>
              </a:rPr>
              <a:t>2025.11.07</a:t>
            </a:r>
          </a:p>
        </p:txBody>
      </p:sp>
    </p:spTree>
    <p:extLst>
      <p:ext uri="{BB962C8B-B14F-4D97-AF65-F5344CB8AC3E}">
        <p14:creationId xmlns:p14="http://schemas.microsoft.com/office/powerpoint/2010/main" val="19629233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174BAC-FB71-DDE8-7515-09A3532D89FA}"/>
              </a:ext>
            </a:extLst>
          </p:cNvPr>
          <p:cNvSpPr txBox="1"/>
          <p:nvPr/>
        </p:nvSpPr>
        <p:spPr>
          <a:xfrm>
            <a:off x="378148" y="252239"/>
            <a:ext cx="69847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i="0" dirty="0">
                <a:effectLst/>
                <a:latin typeface="fkGroteskNeue"/>
              </a:rPr>
              <a:t>General Overview and Feasibility of Group Options</a:t>
            </a:r>
            <a:endParaRPr lang="ko-KR" altLang="en-US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C0B9AF-8DD6-C8C4-2F3D-08BF35B684DA}"/>
              </a:ext>
            </a:extLst>
          </p:cNvPr>
          <p:cNvSpPr txBox="1"/>
          <p:nvPr/>
        </p:nvSpPr>
        <p:spPr>
          <a:xfrm>
            <a:off x="594172" y="972319"/>
            <a:ext cx="7848872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altLang="ko-KR" b="1" i="0" dirty="0">
                <a:effectLst/>
                <a:latin typeface="fkGroteskNeue"/>
              </a:rPr>
              <a:t>Preprocessing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altLang="ko-KR" b="0" i="0" dirty="0">
                <a:effectLst/>
                <a:latin typeface="fkGroteskNeue"/>
              </a:rPr>
              <a:t>Multiple imputation for missing data (MICE/PMM) in SNSB domains by diagnosis group.</a:t>
            </a:r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GB" altLang="ko-KR" b="0" i="0" dirty="0">
                <a:effectLst/>
                <a:latin typeface="fkGroteskNeue"/>
              </a:rPr>
              <a:t>Exclude: Invalid/missing BIA/cognitive status data, age &lt; 55, </a:t>
            </a:r>
            <a:r>
              <a:rPr lang="en-US" altLang="ko-KR" b="0" i="0" dirty="0">
                <a:effectLst/>
                <a:latin typeface="fkGroteskNeue"/>
              </a:rPr>
              <a:t>retain only valid cognitive groups (CN, MCI, AD).</a:t>
            </a:r>
            <a:endParaRPr lang="en-GB" altLang="ko-KR" b="0" i="0" dirty="0">
              <a:effectLst/>
              <a:latin typeface="fkGroteskNeue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3A2879-33A3-C966-84F9-F1D80028403A}"/>
              </a:ext>
            </a:extLst>
          </p:cNvPr>
          <p:cNvSpPr txBox="1"/>
          <p:nvPr/>
        </p:nvSpPr>
        <p:spPr>
          <a:xfrm>
            <a:off x="594172" y="3780631"/>
            <a:ext cx="7200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ko-KR" b="1" i="0" dirty="0">
                <a:effectLst/>
                <a:latin typeface="fkGroteskNeue"/>
              </a:rPr>
              <a:t>Participants with ≥2 longitudinal visits (N=349)</a:t>
            </a:r>
            <a:endParaRPr lang="ko-KR" altLang="en-US" b="1" dirty="0"/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291EBBE-3FB8-715B-94E7-25474F0D39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9485731"/>
              </p:ext>
            </p:extLst>
          </p:nvPr>
        </p:nvGraphicFramePr>
        <p:xfrm>
          <a:off x="735013" y="4429850"/>
          <a:ext cx="8716145" cy="2286000"/>
        </p:xfrm>
        <a:graphic>
          <a:graphicData uri="http://schemas.openxmlformats.org/drawingml/2006/table">
            <a:tbl>
              <a:tblPr/>
              <a:tblGrid>
                <a:gridCol w="1743229">
                  <a:extLst>
                    <a:ext uri="{9D8B030D-6E8A-4147-A177-3AD203B41FA5}">
                      <a16:colId xmlns:a16="http://schemas.microsoft.com/office/drawing/2014/main" val="190368076"/>
                    </a:ext>
                  </a:extLst>
                </a:gridCol>
                <a:gridCol w="1743229">
                  <a:extLst>
                    <a:ext uri="{9D8B030D-6E8A-4147-A177-3AD203B41FA5}">
                      <a16:colId xmlns:a16="http://schemas.microsoft.com/office/drawing/2014/main" val="498660905"/>
                    </a:ext>
                  </a:extLst>
                </a:gridCol>
                <a:gridCol w="1743229">
                  <a:extLst>
                    <a:ext uri="{9D8B030D-6E8A-4147-A177-3AD203B41FA5}">
                      <a16:colId xmlns:a16="http://schemas.microsoft.com/office/drawing/2014/main" val="470567782"/>
                    </a:ext>
                  </a:extLst>
                </a:gridCol>
                <a:gridCol w="1743229">
                  <a:extLst>
                    <a:ext uri="{9D8B030D-6E8A-4147-A177-3AD203B41FA5}">
                      <a16:colId xmlns:a16="http://schemas.microsoft.com/office/drawing/2014/main" val="3912110096"/>
                    </a:ext>
                  </a:extLst>
                </a:gridCol>
                <a:gridCol w="1743229">
                  <a:extLst>
                    <a:ext uri="{9D8B030D-6E8A-4147-A177-3AD203B41FA5}">
                      <a16:colId xmlns:a16="http://schemas.microsoft.com/office/drawing/2014/main" val="21592316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endParaRPr lang="ko-KR" altLang="en-US" b="1">
                        <a:effectLst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1">
                          <a:effectLst/>
                        </a:rPr>
                        <a:t>AD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1">
                          <a:effectLst/>
                        </a:rPr>
                        <a:t>CN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1">
                          <a:effectLst/>
                        </a:rPr>
                        <a:t>MCI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b="1">
                          <a:effectLst/>
                        </a:rPr>
                        <a:t>Total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23037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GB">
                          <a:effectLst/>
                        </a:rPr>
                        <a:t>AD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1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>
                          <a:effectLst/>
                        </a:rPr>
                        <a:t>0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1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2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15938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GB">
                          <a:effectLst/>
                        </a:rPr>
                        <a:t>CN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0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>
                          <a:effectLst/>
                        </a:rPr>
                        <a:t>218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21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239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7720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GB">
                          <a:effectLst/>
                        </a:rPr>
                        <a:t>MCI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7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42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59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108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1608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GB">
                          <a:effectLst/>
                        </a:rPr>
                        <a:t>Total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8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260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>
                          <a:effectLst/>
                        </a:rPr>
                        <a:t>81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dirty="0">
                          <a:effectLst/>
                        </a:rPr>
                        <a:t>349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66647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270178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>
            <a:extLst>
              <a:ext uri="{FF2B5EF4-FFF2-40B4-BE49-F238E27FC236}">
                <a16:creationId xmlns:a16="http://schemas.microsoft.com/office/drawing/2014/main" id="{AFB34F53-0FEA-08FB-4778-0DCF2501E202}"/>
              </a:ext>
            </a:extLst>
          </p:cNvPr>
          <p:cNvSpPr/>
          <p:nvPr/>
        </p:nvSpPr>
        <p:spPr>
          <a:xfrm>
            <a:off x="4876362" y="3504135"/>
            <a:ext cx="4779724" cy="105423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E7589E3D-9DC0-4016-A9B9-C40F430A0C4A}"/>
              </a:ext>
            </a:extLst>
          </p:cNvPr>
          <p:cNvSpPr/>
          <p:nvPr/>
        </p:nvSpPr>
        <p:spPr>
          <a:xfrm>
            <a:off x="5850756" y="1476375"/>
            <a:ext cx="3312368" cy="8640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171BB1E-9927-01B8-86BB-C4B88F9C552C}"/>
              </a:ext>
            </a:extLst>
          </p:cNvPr>
          <p:cNvSpPr/>
          <p:nvPr/>
        </p:nvSpPr>
        <p:spPr>
          <a:xfrm>
            <a:off x="378148" y="2462016"/>
            <a:ext cx="3024336" cy="8640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36A7BCF-82DC-E33B-5156-F2DCC85A55F2}"/>
              </a:ext>
            </a:extLst>
          </p:cNvPr>
          <p:cNvSpPr/>
          <p:nvPr/>
        </p:nvSpPr>
        <p:spPr>
          <a:xfrm>
            <a:off x="378148" y="1476375"/>
            <a:ext cx="3024336" cy="8640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D174BAC-FB71-DDE8-7515-09A3532D89FA}"/>
              </a:ext>
            </a:extLst>
          </p:cNvPr>
          <p:cNvSpPr txBox="1"/>
          <p:nvPr/>
        </p:nvSpPr>
        <p:spPr>
          <a:xfrm>
            <a:off x="378148" y="252239"/>
            <a:ext cx="69847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i="0" dirty="0">
                <a:effectLst/>
                <a:latin typeface="fkGroteskNeue"/>
              </a:rPr>
              <a:t>General Overview and Feasibility of Group Options</a:t>
            </a:r>
            <a:endParaRPr lang="ko-KR" altLang="en-US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C0B9AF-8DD6-C8C4-2F3D-08BF35B684DA}"/>
              </a:ext>
            </a:extLst>
          </p:cNvPr>
          <p:cNvSpPr txBox="1"/>
          <p:nvPr/>
        </p:nvSpPr>
        <p:spPr>
          <a:xfrm>
            <a:off x="695494" y="1048874"/>
            <a:ext cx="3168352" cy="36994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altLang="ko-KR" b="1" i="0" dirty="0">
                <a:effectLst/>
                <a:latin typeface="fkGroteskNeue"/>
              </a:rPr>
              <a:t>Trajectory-Defined Groups: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altLang="ko-KR" b="0" i="0" dirty="0">
                <a:solidFill>
                  <a:schemeClr val="tx2"/>
                </a:solidFill>
                <a:effectLst/>
                <a:latin typeface="fkGroteskNeue"/>
              </a:rPr>
              <a:t>Stable CN: 218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altLang="ko-KR" b="0" i="0" dirty="0">
                <a:solidFill>
                  <a:schemeClr val="tx2"/>
                </a:solidFill>
                <a:effectLst/>
                <a:latin typeface="fkGroteskNeue"/>
              </a:rPr>
              <a:t>CN→MCI: 21</a:t>
            </a:r>
          </a:p>
          <a:p>
            <a:pPr algn="l">
              <a:lnSpc>
                <a:spcPct val="150000"/>
              </a:lnSpc>
            </a:pPr>
            <a:endParaRPr lang="en-GB" altLang="ko-KR" sz="300" b="0" i="0" dirty="0">
              <a:effectLst/>
              <a:latin typeface="fkGroteskNeue"/>
            </a:endParaRP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altLang="ko-KR" b="0" i="0" dirty="0">
                <a:solidFill>
                  <a:schemeClr val="tx2"/>
                </a:solidFill>
                <a:effectLst/>
                <a:latin typeface="fkGroteskNeue"/>
              </a:rPr>
              <a:t>Stable MCI: 59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altLang="ko-KR" b="0" i="0" dirty="0">
                <a:solidFill>
                  <a:schemeClr val="tx2"/>
                </a:solidFill>
                <a:effectLst/>
                <a:latin typeface="fkGroteskNeue"/>
              </a:rPr>
              <a:t>MCI→CN: 42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altLang="ko-KR" b="0" i="0" dirty="0">
                <a:effectLst/>
                <a:latin typeface="fkGroteskNeue"/>
              </a:rPr>
              <a:t>MCI→AD: 7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altLang="ko-KR" b="0" i="0" dirty="0">
                <a:effectLst/>
                <a:latin typeface="fkGroteskNeue"/>
              </a:rPr>
              <a:t>Stable AD: 1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altLang="ko-KR" b="0" i="0" dirty="0">
                <a:effectLst/>
                <a:latin typeface="fkGroteskNeue"/>
              </a:rPr>
              <a:t>AD→MCI: 1</a:t>
            </a: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9DCC503-C205-714C-8B73-7423F599D696}"/>
              </a:ext>
            </a:extLst>
          </p:cNvPr>
          <p:cNvCxnSpPr>
            <a:cxnSpLocks/>
          </p:cNvCxnSpPr>
          <p:nvPr/>
        </p:nvCxnSpPr>
        <p:spPr>
          <a:xfrm>
            <a:off x="3402484" y="1908423"/>
            <a:ext cx="2304256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9D16178-2A61-41AF-59A1-D8C00D0F6B1B}"/>
              </a:ext>
            </a:extLst>
          </p:cNvPr>
          <p:cNvSpPr txBox="1"/>
          <p:nvPr/>
        </p:nvSpPr>
        <p:spPr>
          <a:xfrm>
            <a:off x="3690516" y="1263572"/>
            <a:ext cx="216024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ko-KR" sz="1600" b="0" i="0" dirty="0">
                <a:effectLst/>
                <a:latin typeface="fkGroteskNeue"/>
              </a:rPr>
              <a:t>+ intermediate   converters (6 subjects)</a:t>
            </a:r>
            <a:endParaRPr lang="ko-KR" altLang="en-US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875329-8459-AE1B-3F7C-0C9A1BC1AD33}"/>
              </a:ext>
            </a:extLst>
          </p:cNvPr>
          <p:cNvSpPr txBox="1"/>
          <p:nvPr/>
        </p:nvSpPr>
        <p:spPr>
          <a:xfrm>
            <a:off x="5994774" y="1364368"/>
            <a:ext cx="2304256" cy="9679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altLang="ko-KR" b="0" i="0" dirty="0">
                <a:solidFill>
                  <a:schemeClr val="tx2"/>
                </a:solidFill>
                <a:effectLst/>
                <a:latin typeface="fkGroteskNeue"/>
              </a:rPr>
              <a:t>Stable CN: 218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altLang="ko-KR" b="0" i="0" dirty="0">
                <a:solidFill>
                  <a:schemeClr val="tx2"/>
                </a:solidFill>
                <a:effectLst/>
                <a:latin typeface="fkGroteskNeue"/>
              </a:rPr>
              <a:t>CN→MCI: </a:t>
            </a:r>
            <a:r>
              <a:rPr lang="fr-FR" altLang="ko-KR" b="1" i="0" dirty="0">
                <a:solidFill>
                  <a:schemeClr val="tx2"/>
                </a:solidFill>
                <a:effectLst/>
                <a:latin typeface="fkGroteskNeue"/>
              </a:rPr>
              <a:t>27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CA798F5-045D-12D6-F70C-6F5FF1935A13}"/>
              </a:ext>
            </a:extLst>
          </p:cNvPr>
          <p:cNvSpPr txBox="1"/>
          <p:nvPr/>
        </p:nvSpPr>
        <p:spPr>
          <a:xfrm>
            <a:off x="5092387" y="3504135"/>
            <a:ext cx="4977596" cy="9679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altLang="ko-KR" b="0" i="0" dirty="0">
                <a:solidFill>
                  <a:schemeClr val="tx2"/>
                </a:solidFill>
                <a:effectLst/>
                <a:latin typeface="fkGroteskNeue"/>
              </a:rPr>
              <a:t>Stable CN (CN→NC): 209 (89.3%)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altLang="ko-KR" b="0" i="0" dirty="0">
                <a:solidFill>
                  <a:schemeClr val="tx2"/>
                </a:solidFill>
                <a:effectLst/>
                <a:latin typeface="fkGroteskNeue"/>
              </a:rPr>
              <a:t>Progressive CN (CN→MCI):</a:t>
            </a:r>
            <a:r>
              <a:rPr lang="fr-FR" altLang="ko-KR" i="0" dirty="0">
                <a:solidFill>
                  <a:schemeClr val="tx2"/>
                </a:solidFill>
                <a:effectLst/>
                <a:latin typeface="fkGroteskNeue"/>
              </a:rPr>
              <a:t> </a:t>
            </a:r>
            <a:r>
              <a:rPr lang="fr-FR" altLang="ko-KR" b="1" dirty="0">
                <a:solidFill>
                  <a:schemeClr val="tx2"/>
                </a:solidFill>
                <a:latin typeface="fkGroteskNeue"/>
              </a:rPr>
              <a:t>25</a:t>
            </a:r>
            <a:r>
              <a:rPr lang="fr-FR" altLang="ko-KR" dirty="0">
                <a:solidFill>
                  <a:schemeClr val="tx2"/>
                </a:solidFill>
                <a:latin typeface="fkGroteskNeue"/>
              </a:rPr>
              <a:t> (10.7%)</a:t>
            </a:r>
            <a:endParaRPr lang="fr-FR" altLang="ko-KR" i="0" dirty="0">
              <a:solidFill>
                <a:schemeClr val="tx2"/>
              </a:solidFill>
              <a:effectLst/>
              <a:latin typeface="fkGroteskNeue"/>
            </a:endParaRP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F0F57609-F7A3-9E41-FD4A-05350A050EDA}"/>
              </a:ext>
            </a:extLst>
          </p:cNvPr>
          <p:cNvCxnSpPr>
            <a:cxnSpLocks/>
          </p:cNvCxnSpPr>
          <p:nvPr/>
        </p:nvCxnSpPr>
        <p:spPr>
          <a:xfrm>
            <a:off x="7506940" y="2352007"/>
            <a:ext cx="0" cy="97410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B71424F-06E1-0413-6334-D0282F60581F}"/>
              </a:ext>
            </a:extLst>
          </p:cNvPr>
          <p:cNvSpPr txBox="1"/>
          <p:nvPr/>
        </p:nvSpPr>
        <p:spPr>
          <a:xfrm>
            <a:off x="7578948" y="2583787"/>
            <a:ext cx="216928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b="0" i="0" dirty="0">
                <a:effectLst/>
                <a:latin typeface="fkGroteskNeue"/>
              </a:rPr>
              <a:t>Excluded subjects with &lt;11 months follow-up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9248406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174BAC-FB71-DDE8-7515-09A3532D89FA}"/>
              </a:ext>
            </a:extLst>
          </p:cNvPr>
          <p:cNvSpPr txBox="1"/>
          <p:nvPr/>
        </p:nvSpPr>
        <p:spPr>
          <a:xfrm>
            <a:off x="378148" y="252239"/>
            <a:ext cx="698477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i="0" dirty="0">
                <a:effectLst/>
                <a:latin typeface="fkGroteskNeue"/>
              </a:rPr>
              <a:t>Table 1: </a:t>
            </a:r>
            <a:r>
              <a:rPr lang="en-US" altLang="ko-KR" i="0" dirty="0">
                <a:effectLst/>
                <a:latin typeface="fkGroteskNeue"/>
              </a:rPr>
              <a:t>Demographic at baseline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A02AEFA-6F11-BB47-E3BA-AEC2CFFF56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0396" y="685049"/>
            <a:ext cx="5111754" cy="6647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5843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174BAC-FB71-DDE8-7515-09A3532D89FA}"/>
              </a:ext>
            </a:extLst>
          </p:cNvPr>
          <p:cNvSpPr txBox="1"/>
          <p:nvPr/>
        </p:nvSpPr>
        <p:spPr>
          <a:xfrm>
            <a:off x="378148" y="180231"/>
            <a:ext cx="849694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>
                <a:latin typeface="fkGrotesk"/>
                <a:cs typeface="Arial" panose="020B0604020202020204" pitchFamily="34" charset="0"/>
              </a:rPr>
              <a:t>Table 2: </a:t>
            </a:r>
            <a:r>
              <a:rPr lang="en-US" dirty="0">
                <a:latin typeface="fkGrotesk"/>
              </a:rPr>
              <a:t>Anthropometry and whole-body composition in 2 groups upon controlling for age, sex, education &amp; GDS score in baseline.</a:t>
            </a:r>
            <a:endParaRPr lang="ko-KR" altLang="en-US" dirty="0">
              <a:latin typeface="fkGrotesk"/>
              <a:cs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39AAA5F-9964-5C3B-C811-0C9C0A4D25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377" y="1116335"/>
            <a:ext cx="10364646" cy="47726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5582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3032D-FFAD-6EE0-10BA-462006658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6F24C78-840A-3DBC-0156-DF59782735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03410"/>
            <a:ext cx="10693400" cy="638594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99DF7FA-2F5F-7E95-B81A-BF70EA3DC4F7}"/>
              </a:ext>
            </a:extLst>
          </p:cNvPr>
          <p:cNvSpPr txBox="1"/>
          <p:nvPr/>
        </p:nvSpPr>
        <p:spPr>
          <a:xfrm>
            <a:off x="378148" y="195524"/>
            <a:ext cx="82809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>
                <a:latin typeface="fkGrotesk"/>
                <a:cs typeface="Arial" panose="020B0604020202020204" pitchFamily="34" charset="0"/>
              </a:rPr>
              <a:t>Table 3: </a:t>
            </a:r>
            <a:r>
              <a:rPr lang="en-US" dirty="0">
                <a:latin typeface="fkGrotesk"/>
              </a:rPr>
              <a:t>Segmental bioimpedance variables in 2 groups upon </a:t>
            </a:r>
          </a:p>
          <a:p>
            <a:r>
              <a:rPr lang="en-US" dirty="0">
                <a:latin typeface="fkGrotesk"/>
              </a:rPr>
              <a:t>controlling for age, sex, education &amp; GDS score in baseline</a:t>
            </a:r>
            <a:endParaRPr lang="ko-KR" altLang="en-US" dirty="0">
              <a:latin typeface="fkGrotesk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10114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762185-3166-9446-2EBC-04A76CE7C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C8260E4-01E4-776A-5CA6-208650672533}"/>
              </a:ext>
            </a:extLst>
          </p:cNvPr>
          <p:cNvSpPr txBox="1"/>
          <p:nvPr/>
        </p:nvSpPr>
        <p:spPr>
          <a:xfrm>
            <a:off x="378148" y="195524"/>
            <a:ext cx="82809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>
                <a:latin typeface="fkGrotesk"/>
                <a:cs typeface="Arial" panose="020B0604020202020204" pitchFamily="34" charset="0"/>
              </a:rPr>
              <a:t>LINEAR MIXED EFFECTS (LME)</a:t>
            </a:r>
            <a:endParaRPr lang="ko-KR" altLang="en-US" b="1" dirty="0">
              <a:latin typeface="fkGrotesk"/>
              <a:cs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B70B8D0-07F5-83A7-2B44-F702AAD3AF4A}"/>
              </a:ext>
            </a:extLst>
          </p:cNvPr>
          <p:cNvSpPr txBox="1"/>
          <p:nvPr/>
        </p:nvSpPr>
        <p:spPr>
          <a:xfrm>
            <a:off x="378148" y="1980431"/>
            <a:ext cx="1004353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model &lt;- </a:t>
            </a:r>
            <a:r>
              <a:rPr lang="en-US" sz="2400" dirty="0" err="1"/>
              <a:t>lmer</a:t>
            </a:r>
            <a:r>
              <a:rPr lang="en-US" sz="2400" dirty="0"/>
              <a:t>(SPR ~ </a:t>
            </a:r>
            <a:r>
              <a:rPr lang="en-US" sz="2400" dirty="0" err="1">
                <a:solidFill>
                  <a:schemeClr val="accent1"/>
                </a:solidFill>
              </a:rPr>
              <a:t>elapsed_years</a:t>
            </a:r>
            <a:r>
              <a:rPr lang="en-US" sz="2400" dirty="0">
                <a:solidFill>
                  <a:schemeClr val="accent1"/>
                </a:solidFill>
              </a:rPr>
              <a:t>*</a:t>
            </a:r>
            <a:r>
              <a:rPr lang="en-US" sz="2400" dirty="0" err="1">
                <a:solidFill>
                  <a:schemeClr val="accent1"/>
                </a:solidFill>
              </a:rPr>
              <a:t>Change_Type</a:t>
            </a:r>
            <a:r>
              <a:rPr lang="en-US" sz="2400" dirty="0">
                <a:solidFill>
                  <a:schemeClr val="accent1"/>
                </a:solidFill>
              </a:rPr>
              <a:t> + AGE + SEX + EDUYR  </a:t>
            </a:r>
            <a:r>
              <a:rPr lang="en-US" sz="2400" dirty="0"/>
              <a:t>+  </a:t>
            </a:r>
            <a:r>
              <a:rPr lang="en-US" sz="2400" dirty="0">
                <a:solidFill>
                  <a:srgbClr val="FF0000"/>
                </a:solidFill>
              </a:rPr>
              <a:t>(1 + </a:t>
            </a:r>
            <a:r>
              <a:rPr lang="en-US" sz="2400" dirty="0" err="1">
                <a:solidFill>
                  <a:srgbClr val="FF0000"/>
                </a:solidFill>
              </a:rPr>
              <a:t>elapsed_years</a:t>
            </a:r>
            <a:r>
              <a:rPr lang="en-US" sz="2400" dirty="0">
                <a:solidFill>
                  <a:srgbClr val="FF0000"/>
                </a:solidFill>
              </a:rPr>
              <a:t>| USUBJID)</a:t>
            </a:r>
            <a:r>
              <a:rPr lang="en-US" sz="2400" dirty="0"/>
              <a:t>, data = data)</a:t>
            </a:r>
          </a:p>
        </p:txBody>
      </p:sp>
    </p:spTree>
    <p:extLst>
      <p:ext uri="{BB962C8B-B14F-4D97-AF65-F5344CB8AC3E}">
        <p14:creationId xmlns:p14="http://schemas.microsoft.com/office/powerpoint/2010/main" val="35777397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274734" y="2700511"/>
            <a:ext cx="82153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800" b="1" i="0" dirty="0">
                <a:solidFill>
                  <a:schemeClr val="tx2"/>
                </a:solidFill>
                <a:effectLst/>
                <a:latin typeface="fkGrotesk"/>
              </a:rPr>
              <a:t>THANK YOU FOR YOUR ATTENTION</a:t>
            </a:r>
          </a:p>
        </p:txBody>
      </p:sp>
    </p:spTree>
    <p:extLst>
      <p:ext uri="{BB962C8B-B14F-4D97-AF65-F5344CB8AC3E}">
        <p14:creationId xmlns:p14="http://schemas.microsoft.com/office/powerpoint/2010/main" val="29757364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1188</TotalTime>
  <Words>560</Words>
  <Application>Microsoft Office PowerPoint</Application>
  <PresentationFormat>Custom</PresentationFormat>
  <Paragraphs>66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맑은 고딕</vt:lpstr>
      <vt:lpstr>Arial</vt:lpstr>
      <vt:lpstr>fkGrotesk</vt:lpstr>
      <vt:lpstr>fkGroteskNeue</vt:lpstr>
      <vt:lpstr>HY견고딕</vt:lpstr>
      <vt:lpstr>HY중고딕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XP SP3 FINAL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user</dc:creator>
  <cp:lastModifiedBy>Minh Tran</cp:lastModifiedBy>
  <cp:revision>51</cp:revision>
  <cp:lastPrinted>2012-01-03T07:03:32Z</cp:lastPrinted>
  <dcterms:created xsi:type="dcterms:W3CDTF">2011-12-29T06:45:05Z</dcterms:created>
  <dcterms:modified xsi:type="dcterms:W3CDTF">2025-11-07T05:03:25Z</dcterms:modified>
</cp:coreProperties>
</file>