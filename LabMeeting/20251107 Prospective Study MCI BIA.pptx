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3"/>
  </p:notesMasterIdLst>
  <p:handoutMasterIdLst>
    <p:handoutMasterId r:id="rId14"/>
  </p:handoutMasterIdLst>
  <p:sldIdLst>
    <p:sldId id="256" r:id="rId2"/>
    <p:sldId id="293" r:id="rId3"/>
    <p:sldId id="281" r:id="rId4"/>
    <p:sldId id="294" r:id="rId5"/>
    <p:sldId id="282" r:id="rId6"/>
    <p:sldId id="283" r:id="rId7"/>
    <p:sldId id="284" r:id="rId8"/>
    <p:sldId id="292" r:id="rId9"/>
    <p:sldId id="291" r:id="rId10"/>
    <p:sldId id="272" r:id="rId11"/>
    <p:sldId id="295" r:id="rId12"/>
  </p:sldIdLst>
  <p:sldSz cx="10693400" cy="7561263"/>
  <p:notesSz cx="9874250" cy="6797675"/>
  <p:defaultTextStyle>
    <a:defPPr>
      <a:defRPr lang="ko-KR"/>
    </a:defPPr>
    <a:lvl1pPr marL="0" algn="l" defTabSz="995690" rtl="0" eaLnBrk="1" latinLnBrk="1" hangingPunct="1">
      <a:defRPr sz="2000" kern="1200">
        <a:solidFill>
          <a:schemeClr val="tx1"/>
        </a:solidFill>
        <a:latin typeface="+mn-lt"/>
        <a:ea typeface="+mn-ea"/>
        <a:cs typeface="+mn-cs"/>
      </a:defRPr>
    </a:lvl1pPr>
    <a:lvl2pPr marL="497845" algn="l" defTabSz="995690" rtl="0" eaLnBrk="1" latinLnBrk="1" hangingPunct="1">
      <a:defRPr sz="2000" kern="1200">
        <a:solidFill>
          <a:schemeClr val="tx1"/>
        </a:solidFill>
        <a:latin typeface="+mn-lt"/>
        <a:ea typeface="+mn-ea"/>
        <a:cs typeface="+mn-cs"/>
      </a:defRPr>
    </a:lvl2pPr>
    <a:lvl3pPr marL="995690" algn="l" defTabSz="995690" rtl="0" eaLnBrk="1" latinLnBrk="1" hangingPunct="1">
      <a:defRPr sz="2000" kern="1200">
        <a:solidFill>
          <a:schemeClr val="tx1"/>
        </a:solidFill>
        <a:latin typeface="+mn-lt"/>
        <a:ea typeface="+mn-ea"/>
        <a:cs typeface="+mn-cs"/>
      </a:defRPr>
    </a:lvl3pPr>
    <a:lvl4pPr marL="1493535" algn="l" defTabSz="995690" rtl="0" eaLnBrk="1" latinLnBrk="1" hangingPunct="1">
      <a:defRPr sz="2000" kern="1200">
        <a:solidFill>
          <a:schemeClr val="tx1"/>
        </a:solidFill>
        <a:latin typeface="+mn-lt"/>
        <a:ea typeface="+mn-ea"/>
        <a:cs typeface="+mn-cs"/>
      </a:defRPr>
    </a:lvl4pPr>
    <a:lvl5pPr marL="1991380" algn="l" defTabSz="995690" rtl="0" eaLnBrk="1" latinLnBrk="1" hangingPunct="1">
      <a:defRPr sz="2000" kern="1200">
        <a:solidFill>
          <a:schemeClr val="tx1"/>
        </a:solidFill>
        <a:latin typeface="+mn-lt"/>
        <a:ea typeface="+mn-ea"/>
        <a:cs typeface="+mn-cs"/>
      </a:defRPr>
    </a:lvl5pPr>
    <a:lvl6pPr marL="2489225" algn="l" defTabSz="995690" rtl="0" eaLnBrk="1" latinLnBrk="1" hangingPunct="1">
      <a:defRPr sz="2000" kern="1200">
        <a:solidFill>
          <a:schemeClr val="tx1"/>
        </a:solidFill>
        <a:latin typeface="+mn-lt"/>
        <a:ea typeface="+mn-ea"/>
        <a:cs typeface="+mn-cs"/>
      </a:defRPr>
    </a:lvl6pPr>
    <a:lvl7pPr marL="2987070" algn="l" defTabSz="995690" rtl="0" eaLnBrk="1" latinLnBrk="1" hangingPunct="1">
      <a:defRPr sz="2000" kern="1200">
        <a:solidFill>
          <a:schemeClr val="tx1"/>
        </a:solidFill>
        <a:latin typeface="+mn-lt"/>
        <a:ea typeface="+mn-ea"/>
        <a:cs typeface="+mn-cs"/>
      </a:defRPr>
    </a:lvl7pPr>
    <a:lvl8pPr marL="3484916" algn="l" defTabSz="995690" rtl="0" eaLnBrk="1" latinLnBrk="1" hangingPunct="1">
      <a:defRPr sz="2000" kern="1200">
        <a:solidFill>
          <a:schemeClr val="tx1"/>
        </a:solidFill>
        <a:latin typeface="+mn-lt"/>
        <a:ea typeface="+mn-ea"/>
        <a:cs typeface="+mn-cs"/>
      </a:defRPr>
    </a:lvl8pPr>
    <a:lvl9pPr marL="3982761" algn="l" defTabSz="995690" rtl="0" eaLnBrk="1" latinLnBrk="1"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2">
          <p15:clr>
            <a:srgbClr val="A4A3A4"/>
          </p15:clr>
        </p15:guide>
        <p15:guide id="2" pos="3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7405"/>
    <a:srgbClr val="E78B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보통 스타일 4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6056" autoAdjust="0"/>
  </p:normalViewPr>
  <p:slideViewPr>
    <p:cSldViewPr>
      <p:cViewPr varScale="1">
        <p:scale>
          <a:sx n="76" d="100"/>
          <a:sy n="76" d="100"/>
        </p:scale>
        <p:origin x="2268" y="96"/>
      </p:cViewPr>
      <p:guideLst>
        <p:guide orient="horz" pos="2382"/>
        <p:guide pos="3368"/>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4279918" cy="339884"/>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5592027" y="0"/>
            <a:ext cx="4279918" cy="339884"/>
          </a:xfrm>
          <a:prstGeom prst="rect">
            <a:avLst/>
          </a:prstGeom>
        </p:spPr>
        <p:txBody>
          <a:bodyPr vert="horz" lIns="91440" tIns="45720" rIns="91440" bIns="45720" rtlCol="0"/>
          <a:lstStyle>
            <a:lvl1pPr algn="r">
              <a:defRPr sz="1200"/>
            </a:lvl1pPr>
          </a:lstStyle>
          <a:p>
            <a:fld id="{0BC65444-5612-4993-A297-66E4EA569180}" type="datetime1">
              <a:rPr lang="ko-KR" altLang="en-US" smtClean="0"/>
              <a:t>2025-11-28</a:t>
            </a:fld>
            <a:endParaRPr lang="ko-KR" altLang="en-US"/>
          </a:p>
        </p:txBody>
      </p:sp>
      <p:sp>
        <p:nvSpPr>
          <p:cNvPr id="4" name="바닥글 개체 틀 3"/>
          <p:cNvSpPr>
            <a:spLocks noGrp="1"/>
          </p:cNvSpPr>
          <p:nvPr>
            <p:ph type="ftr" sz="quarter" idx="2"/>
          </p:nvPr>
        </p:nvSpPr>
        <p:spPr>
          <a:xfrm>
            <a:off x="0" y="6456699"/>
            <a:ext cx="4279918" cy="339884"/>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5592027" y="6456699"/>
            <a:ext cx="4279918" cy="339884"/>
          </a:xfrm>
          <a:prstGeom prst="rect">
            <a:avLst/>
          </a:prstGeom>
        </p:spPr>
        <p:txBody>
          <a:bodyPr vert="horz" lIns="91440" tIns="45720" rIns="91440" bIns="45720" rtlCol="0" anchor="b"/>
          <a:lstStyle>
            <a:lvl1pPr algn="r">
              <a:defRPr sz="1200"/>
            </a:lvl1pPr>
          </a:lstStyle>
          <a:p>
            <a:fld id="{7BB70AE1-31D9-4381-959D-9050CC0FE9CD}" type="slidenum">
              <a:rPr lang="ko-KR" altLang="en-US" smtClean="0"/>
              <a:t>‹#›</a:t>
            </a:fld>
            <a:endParaRPr lang="ko-KR" altLang="en-US"/>
          </a:p>
        </p:txBody>
      </p:sp>
    </p:spTree>
    <p:extLst>
      <p:ext uri="{BB962C8B-B14F-4D97-AF65-F5344CB8AC3E}">
        <p14:creationId xmlns:p14="http://schemas.microsoft.com/office/powerpoint/2010/main" val="139483060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2" y="0"/>
            <a:ext cx="4278841" cy="339884"/>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5593126" y="0"/>
            <a:ext cx="4278841" cy="339884"/>
          </a:xfrm>
          <a:prstGeom prst="rect">
            <a:avLst/>
          </a:prstGeom>
        </p:spPr>
        <p:txBody>
          <a:bodyPr vert="horz" lIns="91440" tIns="45720" rIns="91440" bIns="45720" rtlCol="0"/>
          <a:lstStyle>
            <a:lvl1pPr algn="r">
              <a:defRPr sz="1200"/>
            </a:lvl1pPr>
          </a:lstStyle>
          <a:p>
            <a:fld id="{6FD3867D-DA73-4C30-B686-2D05E2BBC364}" type="datetime1">
              <a:rPr lang="ko-KR" altLang="en-US" smtClean="0"/>
              <a:t>2025-11-28</a:t>
            </a:fld>
            <a:endParaRPr lang="ko-KR" altLang="en-US"/>
          </a:p>
        </p:txBody>
      </p:sp>
      <p:sp>
        <p:nvSpPr>
          <p:cNvPr id="4" name="슬라이드 이미지 개체 틀 3"/>
          <p:cNvSpPr>
            <a:spLocks noGrp="1" noRot="1" noChangeAspect="1"/>
          </p:cNvSpPr>
          <p:nvPr>
            <p:ph type="sldImg" idx="2"/>
          </p:nvPr>
        </p:nvSpPr>
        <p:spPr>
          <a:xfrm>
            <a:off x="3133725" y="509588"/>
            <a:ext cx="3606800" cy="254952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987426" y="3228896"/>
            <a:ext cx="7899400" cy="305895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2" y="6456612"/>
            <a:ext cx="4278841" cy="339884"/>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5593126" y="6456612"/>
            <a:ext cx="4278841" cy="339884"/>
          </a:xfrm>
          <a:prstGeom prst="rect">
            <a:avLst/>
          </a:prstGeom>
        </p:spPr>
        <p:txBody>
          <a:bodyPr vert="horz" lIns="91440" tIns="45720" rIns="91440" bIns="45720" rtlCol="0" anchor="b"/>
          <a:lstStyle>
            <a:lvl1pPr algn="r">
              <a:defRPr sz="1200"/>
            </a:lvl1pPr>
          </a:lstStyle>
          <a:p>
            <a:fld id="{640A336D-49A4-4170-8C35-7E5BA4D4E5E8}" type="slidenum">
              <a:rPr lang="ko-KR" altLang="en-US" smtClean="0"/>
              <a:t>‹#›</a:t>
            </a:fld>
            <a:endParaRPr lang="ko-KR" altLang="en-US"/>
          </a:p>
        </p:txBody>
      </p:sp>
    </p:spTree>
    <p:extLst>
      <p:ext uri="{BB962C8B-B14F-4D97-AF65-F5344CB8AC3E}">
        <p14:creationId xmlns:p14="http://schemas.microsoft.com/office/powerpoint/2010/main" val="2741469154"/>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Tree>
    <p:extLst>
      <p:ext uri="{BB962C8B-B14F-4D97-AF65-F5344CB8AC3E}">
        <p14:creationId xmlns:p14="http://schemas.microsoft.com/office/powerpoint/2010/main" val="1073744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endParaRPr lang="ko-KR" altLang="en-US" dirty="0"/>
          </a:p>
        </p:txBody>
      </p:sp>
    </p:spTree>
    <p:extLst>
      <p:ext uri="{BB962C8B-B14F-4D97-AF65-F5344CB8AC3E}">
        <p14:creationId xmlns:p14="http://schemas.microsoft.com/office/powerpoint/2010/main" val="2597669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CDE15-1E3B-174F-4285-65C19880353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8BAA605-A5D8-F797-08E8-BE413A4F626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F00168-8B9D-6961-C5AC-F1C5045FA6A0}"/>
              </a:ext>
            </a:extLst>
          </p:cNvPr>
          <p:cNvSpPr>
            <a:spLocks noGrp="1"/>
          </p:cNvSpPr>
          <p:nvPr>
            <p:ph type="body" idx="1"/>
          </p:nvPr>
        </p:nvSpPr>
        <p:spPr/>
        <p:txBody>
          <a:bodyPr/>
          <a:lstStyle/>
          <a:p>
            <a:endParaRPr lang="ko-KR" altLang="en-US"/>
          </a:p>
        </p:txBody>
      </p:sp>
    </p:spTree>
    <p:extLst>
      <p:ext uri="{BB962C8B-B14F-4D97-AF65-F5344CB8AC3E}">
        <p14:creationId xmlns:p14="http://schemas.microsoft.com/office/powerpoint/2010/main" val="2766357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195CC-AB8F-A404-4714-60CDE364DFD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BB79A6-9B3A-A333-6EEA-3DB5719B197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5A47FFD-A039-65D9-6268-817BFAA822F0}"/>
              </a:ext>
            </a:extLst>
          </p:cNvPr>
          <p:cNvSpPr>
            <a:spLocks noGrp="1"/>
          </p:cNvSpPr>
          <p:nvPr>
            <p:ph type="body" idx="1"/>
          </p:nvPr>
        </p:nvSpPr>
        <p:spPr/>
        <p:txBody>
          <a:bodyPr/>
          <a:lstStyle/>
          <a:p>
            <a:r>
              <a:rPr lang="en-US" altLang="ko-KR" b="0" i="0" dirty="0">
                <a:effectLst/>
                <a:latin typeface="fkGroteskNeue"/>
              </a:rPr>
              <a:t>WHR: both groups decrease, but </a:t>
            </a:r>
            <a:r>
              <a:rPr lang="en-US" altLang="ko-KR" b="0" i="0" dirty="0" err="1">
                <a:effectLst/>
                <a:latin typeface="fkGroteskNeue"/>
              </a:rPr>
              <a:t>CNtransitMCI</a:t>
            </a:r>
            <a:r>
              <a:rPr lang="en-US" altLang="ko-KR" b="0" i="0" dirty="0">
                <a:effectLst/>
                <a:latin typeface="fkGroteskNeue"/>
              </a:rPr>
              <a:t> decline faster, indicating accelerated loss of central fat in late life.</a:t>
            </a:r>
          </a:p>
          <a:p>
            <a:r>
              <a:rPr lang="en-US" altLang="ko-KR" b="0" i="0" dirty="0">
                <a:effectLst/>
                <a:latin typeface="fkGroteskNeue"/>
              </a:rPr>
              <a:t>AMC: </a:t>
            </a:r>
            <a:r>
              <a:rPr lang="en-US" altLang="ko-KR" b="0" i="0" dirty="0" err="1">
                <a:effectLst/>
                <a:latin typeface="fkGroteskNeue"/>
              </a:rPr>
              <a:t>StableCN</a:t>
            </a:r>
            <a:r>
              <a:rPr lang="en-US" altLang="ko-KR" b="0" i="0" dirty="0">
                <a:effectLst/>
                <a:latin typeface="fkGroteskNeue"/>
              </a:rPr>
              <a:t> maintain/increase arm muscle, converters lose it; significant slope difference with small effect size.​</a:t>
            </a:r>
          </a:p>
          <a:p>
            <a:r>
              <a:rPr lang="en-US" altLang="ko-KR" b="0" i="0" dirty="0">
                <a:effectLst/>
                <a:latin typeface="fkGroteskNeue"/>
              </a:rPr>
              <a:t>Protein: </a:t>
            </a:r>
            <a:r>
              <a:rPr lang="en-US" altLang="ko-KR" b="0" i="0" dirty="0" err="1">
                <a:effectLst/>
                <a:latin typeface="fkGroteskNeue"/>
              </a:rPr>
              <a:t>StableCN</a:t>
            </a:r>
            <a:r>
              <a:rPr lang="en-US" altLang="ko-KR" b="0" i="0" dirty="0">
                <a:effectLst/>
                <a:latin typeface="fkGroteskNeue"/>
              </a:rPr>
              <a:t> show stable/increasing levels, </a:t>
            </a:r>
            <a:r>
              <a:rPr lang="en-US" altLang="ko-KR" b="0" i="0" dirty="0" err="1">
                <a:effectLst/>
                <a:latin typeface="fkGroteskNeue"/>
              </a:rPr>
              <a:t>CNtransitMCI</a:t>
            </a:r>
            <a:r>
              <a:rPr lang="en-US" altLang="ko-KR" b="0" i="0" dirty="0">
                <a:effectLst/>
                <a:latin typeface="fkGroteskNeue"/>
              </a:rPr>
              <a:t> flatten or decline; again a significant slope gap.​</a:t>
            </a:r>
          </a:p>
          <a:p>
            <a:r>
              <a:rPr lang="en-US" altLang="ko-KR" b="0" i="0" dirty="0">
                <a:effectLst/>
                <a:latin typeface="fkGroteskNeue"/>
              </a:rPr>
              <a:t>Meaning: faster loss of central fat, limb muscle, and protein in converters matches a sarcopenic–nutritional frailty pattern frequently linked with cognitive decline and mortality in older adults.​​</a:t>
            </a:r>
          </a:p>
          <a:p>
            <a:endParaRPr lang="en-US" altLang="ko-KR" b="0" i="0" dirty="0">
              <a:effectLst/>
              <a:latin typeface="fkGroteskNeue"/>
            </a:endParaRPr>
          </a:p>
          <a:p>
            <a:r>
              <a:rPr lang="en-US" altLang="ko-KR" b="0" i="0" dirty="0">
                <a:effectLst/>
                <a:latin typeface="fkGroteskNeue"/>
              </a:rPr>
              <a:t>Upper body: </a:t>
            </a:r>
            <a:r>
              <a:rPr lang="en-US" altLang="ko-KR" b="0" i="0" dirty="0" err="1">
                <a:effectLst/>
                <a:latin typeface="fkGroteskNeue"/>
              </a:rPr>
              <a:t>SL_upper</a:t>
            </a:r>
            <a:r>
              <a:rPr lang="en-US" altLang="ko-KR" b="0" i="0" dirty="0">
                <a:effectLst/>
                <a:latin typeface="fkGroteskNeue"/>
              </a:rPr>
              <a:t> and </a:t>
            </a:r>
            <a:r>
              <a:rPr lang="en-US" altLang="ko-KR" b="0" i="0" dirty="0" err="1">
                <a:effectLst/>
                <a:latin typeface="fkGroteskNeue"/>
              </a:rPr>
              <a:t>SW_upper</a:t>
            </a:r>
            <a:endParaRPr lang="en-US" altLang="ko-KR" b="0" i="0" dirty="0">
              <a:effectLst/>
              <a:latin typeface="fkGroteskNeue"/>
            </a:endParaRPr>
          </a:p>
          <a:p>
            <a:r>
              <a:rPr lang="en-US" altLang="ko-KR" b="0" i="0" dirty="0" err="1">
                <a:effectLst/>
                <a:latin typeface="fkGroteskNeue"/>
              </a:rPr>
              <a:t>SL_upper</a:t>
            </a:r>
            <a:r>
              <a:rPr lang="en-US" altLang="ko-KR" b="0" i="0" dirty="0">
                <a:effectLst/>
                <a:latin typeface="fkGroteskNeue"/>
              </a:rPr>
              <a:t> and </a:t>
            </a:r>
            <a:r>
              <a:rPr lang="en-US" altLang="ko-KR" b="0" i="0" dirty="0" err="1">
                <a:effectLst/>
                <a:latin typeface="fkGroteskNeue"/>
              </a:rPr>
              <a:t>SW_upper</a:t>
            </a:r>
            <a:r>
              <a:rPr lang="en-US" altLang="ko-KR" b="0" i="0" dirty="0">
                <a:effectLst/>
                <a:latin typeface="fkGroteskNeue"/>
              </a:rPr>
              <a:t>: small positive slopes in </a:t>
            </a:r>
            <a:r>
              <a:rPr lang="en-US" altLang="ko-KR" b="0" i="0" dirty="0" err="1">
                <a:effectLst/>
                <a:latin typeface="fkGroteskNeue"/>
              </a:rPr>
              <a:t>StableCN</a:t>
            </a:r>
            <a:r>
              <a:rPr lang="en-US" altLang="ko-KR" b="0" i="0" dirty="0">
                <a:effectLst/>
                <a:latin typeface="fkGroteskNeue"/>
              </a:rPr>
              <a:t>, negative in </a:t>
            </a:r>
            <a:r>
              <a:rPr lang="en-US" altLang="ko-KR" b="0" i="0" dirty="0" err="1">
                <a:effectLst/>
                <a:latin typeface="fkGroteskNeue"/>
              </a:rPr>
              <a:t>CNtransitMCI</a:t>
            </a:r>
            <a:r>
              <a:rPr lang="en-US" altLang="ko-KR" b="0" i="0" dirty="0">
                <a:effectLst/>
                <a:latin typeface="fkGroteskNeue"/>
              </a:rPr>
              <a:t>; all p&lt;0.01 with consistent effect sizes.​</a:t>
            </a:r>
          </a:p>
          <a:p>
            <a:r>
              <a:rPr lang="en-US" altLang="ko-KR" b="0" i="0" dirty="0">
                <a:effectLst/>
                <a:latin typeface="fkGroteskNeue"/>
              </a:rPr>
              <a:t>Meaning: arms and upper body show real muscle and intracellular volume loss already in the CN phase, extending the lower-limb–focused sarcopenia pattern to a more generalized phenotype.​​</a:t>
            </a:r>
          </a:p>
          <a:p>
            <a:endParaRPr lang="en-US" altLang="ko-KR" b="0" i="0" dirty="0">
              <a:effectLst/>
              <a:latin typeface="fkGroteskNeue"/>
            </a:endParaRPr>
          </a:p>
          <a:p>
            <a:r>
              <a:rPr lang="en-US" altLang="ko-KR" b="0" i="0" dirty="0">
                <a:effectLst/>
                <a:latin typeface="fkGroteskNeue"/>
              </a:rPr>
              <a:t>Trunk: </a:t>
            </a:r>
            <a:r>
              <a:rPr lang="en-US" altLang="ko-KR" b="0" i="0" dirty="0" err="1">
                <a:effectLst/>
                <a:latin typeface="fkGroteskNeue"/>
              </a:rPr>
              <a:t>SL_tr</a:t>
            </a:r>
            <a:r>
              <a:rPr lang="en-US" altLang="ko-KR" b="0" i="0" dirty="0">
                <a:effectLst/>
                <a:latin typeface="fkGroteskNeue"/>
              </a:rPr>
              <a:t> and </a:t>
            </a:r>
            <a:r>
              <a:rPr lang="en-US" altLang="ko-KR" b="0" i="0" dirty="0" err="1">
                <a:effectLst/>
                <a:latin typeface="fkGroteskNeue"/>
              </a:rPr>
              <a:t>SW_tr</a:t>
            </a:r>
            <a:endParaRPr lang="en-US" altLang="ko-KR" b="0" i="0" dirty="0">
              <a:effectLst/>
              <a:latin typeface="fkGroteskNeue"/>
            </a:endParaRPr>
          </a:p>
          <a:p>
            <a:r>
              <a:rPr lang="en-US" altLang="ko-KR" b="0" i="0" dirty="0" err="1">
                <a:effectLst/>
                <a:latin typeface="fkGroteskNeue"/>
              </a:rPr>
              <a:t>SL_tr</a:t>
            </a:r>
            <a:r>
              <a:rPr lang="en-US" altLang="ko-KR" b="0" i="0" dirty="0">
                <a:effectLst/>
                <a:latin typeface="fkGroteskNeue"/>
              </a:rPr>
              <a:t> and </a:t>
            </a:r>
            <a:r>
              <a:rPr lang="en-US" altLang="ko-KR" b="0" i="0" dirty="0" err="1">
                <a:effectLst/>
                <a:latin typeface="fkGroteskNeue"/>
              </a:rPr>
              <a:t>SW_tr</a:t>
            </a:r>
            <a:r>
              <a:rPr lang="en-US" altLang="ko-KR" b="0" i="0" dirty="0">
                <a:effectLst/>
                <a:latin typeface="fkGroteskNeue"/>
              </a:rPr>
              <a:t>: </a:t>
            </a:r>
            <a:r>
              <a:rPr lang="en-US" altLang="ko-KR" b="0" i="0" dirty="0" err="1">
                <a:effectLst/>
                <a:latin typeface="fkGroteskNeue"/>
              </a:rPr>
              <a:t>StableCN</a:t>
            </a:r>
            <a:r>
              <a:rPr lang="en-US" altLang="ko-KR" b="0" i="0" dirty="0">
                <a:effectLst/>
                <a:latin typeface="fkGroteskNeue"/>
              </a:rPr>
              <a:t> slightly increase over time, while </a:t>
            </a:r>
            <a:r>
              <a:rPr lang="en-US" altLang="ko-KR" b="0" i="0" dirty="0" err="1">
                <a:effectLst/>
                <a:latin typeface="fkGroteskNeue"/>
              </a:rPr>
              <a:t>CNtransitMCI</a:t>
            </a:r>
            <a:r>
              <a:rPr lang="en-US" altLang="ko-KR" b="0" i="0" dirty="0">
                <a:effectLst/>
                <a:latin typeface="fkGroteskNeue"/>
              </a:rPr>
              <a:t> decline; slope differences are significant with small–moderate effect sizes.​</a:t>
            </a:r>
          </a:p>
          <a:p>
            <a:r>
              <a:rPr lang="en-US" altLang="ko-KR" b="0" i="0" dirty="0">
                <a:effectLst/>
                <a:latin typeface="fkGroteskNeue"/>
              </a:rPr>
              <a:t>Meaning: converters lose trunk muscle and its associated water, suggesting early metabolic and inflammatory deterioration centered in the torso.​​</a:t>
            </a:r>
          </a:p>
          <a:p>
            <a:endParaRPr lang="en-US" altLang="ko-KR" b="0" i="0" dirty="0">
              <a:effectLst/>
              <a:latin typeface="fkGroteskNeue"/>
            </a:endParaRPr>
          </a:p>
          <a:p>
            <a:endParaRPr lang="en-US" altLang="ko-KR" b="0" i="0" dirty="0">
              <a:effectLst/>
              <a:latin typeface="fkGroteskNeue"/>
            </a:endParaRPr>
          </a:p>
          <a:p>
            <a:r>
              <a:rPr lang="en-US" altLang="ko-KR" b="0" i="0" dirty="0">
                <a:effectLst/>
                <a:latin typeface="fkGroteskNeue"/>
              </a:rPr>
              <a:t>Lower limb cellular integrity: Xc5_lower</a:t>
            </a:r>
          </a:p>
          <a:p>
            <a:r>
              <a:rPr lang="en-US" altLang="ko-KR" b="0" i="0" dirty="0">
                <a:effectLst/>
                <a:latin typeface="fkGroteskNeue"/>
              </a:rPr>
              <a:t>Xc5_lower: </a:t>
            </a:r>
            <a:r>
              <a:rPr lang="en-US" altLang="ko-KR" b="0" i="0" dirty="0" err="1">
                <a:effectLst/>
                <a:latin typeface="fkGroteskNeue"/>
              </a:rPr>
              <a:t>StableCN</a:t>
            </a:r>
            <a:r>
              <a:rPr lang="en-US" altLang="ko-KR" b="0" i="0" dirty="0">
                <a:effectLst/>
                <a:latin typeface="fkGroteskNeue"/>
              </a:rPr>
              <a:t> show stable/mildly positive slopes; </a:t>
            </a:r>
            <a:r>
              <a:rPr lang="en-US" altLang="ko-KR" b="0" i="0" dirty="0" err="1">
                <a:effectLst/>
                <a:latin typeface="fkGroteskNeue"/>
              </a:rPr>
              <a:t>CNtransitMCI</a:t>
            </a:r>
            <a:r>
              <a:rPr lang="en-US" altLang="ko-KR" b="0" i="0" dirty="0">
                <a:effectLst/>
                <a:latin typeface="fkGroteskNeue"/>
              </a:rPr>
              <a:t> show clear decline, with significant slope difference and small effect size.​</a:t>
            </a:r>
          </a:p>
          <a:p>
            <a:r>
              <a:rPr lang="en-US" altLang="ko-KR" b="0" i="0" dirty="0">
                <a:effectLst/>
                <a:latin typeface="fkGroteskNeue"/>
              </a:rPr>
              <a:t>Meaning: lower-extremity cell membrane capacitance and body cell mass deteriorate earlier in those who will develop MCI, directly extending previous cross-sectional findings in the same cohort to a longitudinal, pre-MCI phase.​​</a:t>
            </a:r>
          </a:p>
          <a:p>
            <a:endParaRPr lang="en-US" altLang="ko-KR" b="0" i="0" dirty="0">
              <a:effectLst/>
              <a:latin typeface="fkGroteskNeue"/>
            </a:endParaRPr>
          </a:p>
          <a:p>
            <a:endParaRPr lang="en-US" altLang="ko-KR" b="0" i="0" dirty="0">
              <a:effectLst/>
              <a:latin typeface="fkGroteskNeue"/>
            </a:endParaRPr>
          </a:p>
        </p:txBody>
      </p:sp>
    </p:spTree>
    <p:extLst>
      <p:ext uri="{BB962C8B-B14F-4D97-AF65-F5344CB8AC3E}">
        <p14:creationId xmlns:p14="http://schemas.microsoft.com/office/powerpoint/2010/main" val="3631370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95E75-5443-7ACF-DD42-EF5F844BF2B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9365AD5-D4FF-6777-384D-E3B1D20C120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4A66C73-C290-7555-03F4-05111C8D76AB}"/>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b="0" i="0" dirty="0">
              <a:effectLst/>
              <a:latin typeface="fkGrotesk"/>
            </a:endParaRPr>
          </a:p>
        </p:txBody>
      </p:sp>
    </p:spTree>
    <p:extLst>
      <p:ext uri="{BB962C8B-B14F-4D97-AF65-F5344CB8AC3E}">
        <p14:creationId xmlns:p14="http://schemas.microsoft.com/office/powerpoint/2010/main" val="195018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2FBC4-7CBE-1D3F-8950-589A382644C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94F836E-A0F7-6F6C-DC03-A42C01EE319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BB4993C-30E9-9928-21C3-12082F1B1738}"/>
              </a:ext>
            </a:extLst>
          </p:cNvPr>
          <p:cNvSpPr>
            <a:spLocks noGrp="1"/>
          </p:cNvSpPr>
          <p:nvPr>
            <p:ph type="body" idx="1"/>
          </p:nvPr>
        </p:nvSpPr>
        <p:spPr/>
        <p:txBody>
          <a:bodyPr/>
          <a:lstStyle/>
          <a:p>
            <a:endParaRPr lang="ko-KR" altLang="en-US" dirty="0"/>
          </a:p>
        </p:txBody>
      </p:sp>
    </p:spTree>
    <p:extLst>
      <p:ext uri="{BB962C8B-B14F-4D97-AF65-F5344CB8AC3E}">
        <p14:creationId xmlns:p14="http://schemas.microsoft.com/office/powerpoint/2010/main" val="2489080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8CC44-84C5-FCDF-6D54-5C0C08CA98E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8385A0B-2AD7-ACDB-9BCD-0CECA37416A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ED083AA-89F6-AC2A-C637-AE5844FC50C8}"/>
              </a:ext>
            </a:extLst>
          </p:cNvPr>
          <p:cNvSpPr>
            <a:spLocks noGrp="1"/>
          </p:cNvSpPr>
          <p:nvPr>
            <p:ph type="body" idx="1"/>
          </p:nvPr>
        </p:nvSpPr>
        <p:spPr/>
        <p:txBody>
          <a:bodyPr/>
          <a:lstStyle/>
          <a:p>
            <a:endParaRPr lang="ko-KR" altLang="en-US" dirty="0"/>
          </a:p>
        </p:txBody>
      </p:sp>
    </p:spTree>
    <p:extLst>
      <p:ext uri="{BB962C8B-B14F-4D97-AF65-F5344CB8AC3E}">
        <p14:creationId xmlns:p14="http://schemas.microsoft.com/office/powerpoint/2010/main" val="2396861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Tree>
    <p:extLst>
      <p:ext uri="{BB962C8B-B14F-4D97-AF65-F5344CB8AC3E}">
        <p14:creationId xmlns:p14="http://schemas.microsoft.com/office/powerpoint/2010/main" val="2913007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5FE8-C351-F98C-1E12-73FB4332375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D9C9542-DEC4-FF22-8C4A-99EE23161AF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D60F759-F8BD-9EAC-4C7C-49755C20E334}"/>
              </a:ext>
            </a:extLst>
          </p:cNvPr>
          <p:cNvSpPr>
            <a:spLocks noGrp="1"/>
          </p:cNvSpPr>
          <p:nvPr>
            <p:ph type="body" idx="1"/>
          </p:nvPr>
        </p:nvSpPr>
        <p:spPr/>
        <p:txBody>
          <a:bodyPr/>
          <a:lstStyle/>
          <a:p>
            <a:pPr algn="l"/>
            <a:endParaRPr lang="ko-KR" altLang="en-US" dirty="0"/>
          </a:p>
        </p:txBody>
      </p:sp>
    </p:spTree>
    <p:extLst>
      <p:ext uri="{BB962C8B-B14F-4D97-AF65-F5344CB8AC3E}">
        <p14:creationId xmlns:p14="http://schemas.microsoft.com/office/powerpoint/2010/main" val="902599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Tree>
    <p:extLst>
      <p:ext uri="{BB962C8B-B14F-4D97-AF65-F5344CB8AC3E}">
        <p14:creationId xmlns:p14="http://schemas.microsoft.com/office/powerpoint/2010/main" val="3645647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5FE8-C351-F98C-1E12-73FB4332375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D9C9542-DEC4-FF22-8C4A-99EE23161AF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D60F759-F8BD-9EAC-4C7C-49755C20E334}"/>
              </a:ext>
            </a:extLst>
          </p:cNvPr>
          <p:cNvSpPr>
            <a:spLocks noGrp="1"/>
          </p:cNvSpPr>
          <p:nvPr>
            <p:ph type="body" idx="1"/>
          </p:nvPr>
        </p:nvSpPr>
        <p:spPr/>
        <p:txBody>
          <a:bodyPr/>
          <a:lstStyle/>
          <a:p>
            <a:pPr algn="l"/>
            <a:endParaRPr lang="ko-KR" altLang="en-US" dirty="0"/>
          </a:p>
        </p:txBody>
      </p:sp>
    </p:spTree>
    <p:extLst>
      <p:ext uri="{BB962C8B-B14F-4D97-AF65-F5344CB8AC3E}">
        <p14:creationId xmlns:p14="http://schemas.microsoft.com/office/powerpoint/2010/main" val="1996121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제목 및 내용">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306140" y="1260351"/>
            <a:ext cx="10009112" cy="5400600"/>
          </a:xfrm>
          <a:prstGeom prst="rect">
            <a:avLst/>
          </a:prstGeom>
        </p:spPr>
        <p:txBody>
          <a:bodyPr/>
          <a:lstStyle>
            <a:lvl1pPr marL="0" indent="0">
              <a:buNone/>
              <a:defRPr sz="3000" b="1" baseline="0">
                <a:latin typeface="HY중고딕" pitchFamily="18" charset="-127"/>
                <a:ea typeface="HY중고딕" pitchFamily="18" charset="-127"/>
              </a:defRPr>
            </a:lvl1pPr>
            <a:lvl2pPr marL="497845" indent="0">
              <a:buNone/>
              <a:defRPr sz="2800">
                <a:latin typeface="HY중고딕" pitchFamily="18" charset="-127"/>
                <a:ea typeface="HY중고딕" pitchFamily="18" charset="-127"/>
              </a:defRPr>
            </a:lvl2pPr>
            <a:lvl3pPr>
              <a:defRPr sz="2500">
                <a:latin typeface="HY중고딕" pitchFamily="18" charset="-127"/>
                <a:ea typeface="HY중고딕" pitchFamily="18" charset="-127"/>
              </a:defRPr>
            </a:lvl3pPr>
            <a:lvl4pPr marL="1493535" indent="0">
              <a:buNone/>
              <a:defRPr sz="2500">
                <a:latin typeface="HY중고딕" pitchFamily="18" charset="-127"/>
                <a:ea typeface="HY중고딕" pitchFamily="18" charset="-127"/>
              </a:defRPr>
            </a:lvl4pPr>
            <a:lvl5pPr>
              <a:defRPr sz="2500">
                <a:latin typeface="HY중고딕" pitchFamily="18" charset="-127"/>
                <a:ea typeface="HY중고딕" pitchFamily="18" charset="-127"/>
              </a:defRPr>
            </a:lvl5pPr>
          </a:lstStyle>
          <a:p>
            <a:pPr lvl="0"/>
            <a:r>
              <a:rPr lang="ko-KR" altLang="en-US" dirty="0"/>
              <a:t>□ 첫째 수준 </a:t>
            </a:r>
            <a:r>
              <a:rPr lang="en-US" altLang="ko-KR" dirty="0"/>
              <a:t>(HY</a:t>
            </a:r>
            <a:r>
              <a:rPr lang="ko-KR" altLang="en-US" dirty="0"/>
              <a:t>중고딕</a:t>
            </a:r>
            <a:r>
              <a:rPr lang="en-US" altLang="ko-KR" dirty="0"/>
              <a:t>, 30, </a:t>
            </a:r>
            <a:r>
              <a:rPr lang="ko-KR" altLang="en-US" dirty="0"/>
              <a:t>굵게</a:t>
            </a:r>
            <a:r>
              <a:rPr lang="en-US" altLang="ko-KR" dirty="0"/>
              <a:t>)</a:t>
            </a:r>
            <a:endParaRPr lang="ko-KR" altLang="en-US" dirty="0"/>
          </a:p>
          <a:p>
            <a:pPr lvl="1"/>
            <a:r>
              <a:rPr lang="en-US" altLang="ko-KR" dirty="0"/>
              <a:t>-</a:t>
            </a:r>
            <a:r>
              <a:rPr lang="ko-KR" altLang="en-US" dirty="0"/>
              <a:t> 둘째 수준 </a:t>
            </a:r>
            <a:r>
              <a:rPr lang="en-US" altLang="ko-KR" dirty="0"/>
              <a:t>(HY</a:t>
            </a:r>
            <a:r>
              <a:rPr lang="ko-KR" altLang="en-US" dirty="0"/>
              <a:t>중고딕</a:t>
            </a:r>
            <a:r>
              <a:rPr lang="en-US" altLang="ko-KR" dirty="0"/>
              <a:t>, 28)</a:t>
            </a:r>
            <a:endParaRPr lang="ko-KR" altLang="en-US" dirty="0"/>
          </a:p>
          <a:p>
            <a:pPr lvl="2"/>
            <a:r>
              <a:rPr lang="ko-KR" altLang="en-US" dirty="0"/>
              <a:t>셋째 수준 </a:t>
            </a:r>
            <a:r>
              <a:rPr lang="en-US" altLang="ko-KR" dirty="0"/>
              <a:t>(HY</a:t>
            </a:r>
            <a:r>
              <a:rPr lang="ko-KR" altLang="en-US" dirty="0"/>
              <a:t>중고딕</a:t>
            </a:r>
            <a:r>
              <a:rPr lang="en-US" altLang="ko-KR" dirty="0"/>
              <a:t>, 25)</a:t>
            </a:r>
            <a:endParaRPr lang="ko-KR" altLang="en-US" dirty="0"/>
          </a:p>
          <a:p>
            <a:pPr lvl="3"/>
            <a:r>
              <a:rPr lang="en-US" altLang="ko-KR" dirty="0"/>
              <a:t>- </a:t>
            </a:r>
            <a:r>
              <a:rPr lang="ko-KR" altLang="en-US" dirty="0"/>
              <a:t>넷째 수준 </a:t>
            </a:r>
            <a:r>
              <a:rPr lang="en-US" altLang="ko-KR" dirty="0"/>
              <a:t>(HY</a:t>
            </a:r>
            <a:r>
              <a:rPr lang="ko-KR" altLang="en-US" dirty="0"/>
              <a:t>중고딕</a:t>
            </a:r>
            <a:r>
              <a:rPr lang="en-US" altLang="ko-KR" dirty="0"/>
              <a:t>, 25)</a:t>
            </a:r>
            <a:endParaRPr lang="ko-KR" altLang="en-US" dirty="0"/>
          </a:p>
        </p:txBody>
      </p:sp>
      <p:sp>
        <p:nvSpPr>
          <p:cNvPr id="4" name="날짜 개체 틀 3"/>
          <p:cNvSpPr>
            <a:spLocks noGrp="1"/>
          </p:cNvSpPr>
          <p:nvPr>
            <p:ph type="dt" sz="half" idx="10"/>
          </p:nvPr>
        </p:nvSpPr>
        <p:spPr/>
        <p:txBody>
          <a:bodyPr/>
          <a:lstStyle/>
          <a:p>
            <a:fld id="{EB123EF1-6E1E-49A8-89C7-5D842E70784B}" type="datetime1">
              <a:rPr lang="ko-KR" altLang="en-US" smtClean="0"/>
              <a:t>2025-11-28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B597EC8-03FB-421D-BA76-5865596B8B77}" type="slidenum">
              <a:rPr lang="ko-KR" altLang="en-US" smtClean="0"/>
              <a:pPr/>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3_제목 및 내용">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306140" y="91456"/>
            <a:ext cx="8496944" cy="736847"/>
          </a:xfrm>
          <a:prstGeom prst="rect">
            <a:avLst/>
          </a:prstGeom>
        </p:spPr>
        <p:txBody>
          <a:bodyPr anchor="ctr"/>
          <a:lstStyle>
            <a:lvl1pPr algn="l">
              <a:defRPr sz="3000" b="0">
                <a:latin typeface="HY견고딕" pitchFamily="18" charset="-127"/>
                <a:ea typeface="HY견고딕" pitchFamily="18" charset="-127"/>
              </a:defRPr>
            </a:lvl1pPr>
          </a:lstStyle>
          <a:p>
            <a:r>
              <a:rPr lang="ko-KR" altLang="en-US" dirty="0"/>
              <a:t>마스터 제목 스타일 편집</a:t>
            </a:r>
            <a:r>
              <a:rPr lang="en-US" altLang="ko-KR" dirty="0"/>
              <a:t>(HY</a:t>
            </a:r>
            <a:r>
              <a:rPr lang="ko-KR" altLang="en-US" dirty="0"/>
              <a:t>견고딕</a:t>
            </a:r>
            <a:r>
              <a:rPr lang="en-US" altLang="ko-KR" dirty="0"/>
              <a:t>, 30)</a:t>
            </a:r>
            <a:endParaRPr lang="ko-KR" altLang="en-US" dirty="0"/>
          </a:p>
        </p:txBody>
      </p:sp>
      <p:sp>
        <p:nvSpPr>
          <p:cNvPr id="3" name="내용 개체 틀 2"/>
          <p:cNvSpPr>
            <a:spLocks noGrp="1"/>
          </p:cNvSpPr>
          <p:nvPr>
            <p:ph idx="1" hasCustomPrompt="1"/>
          </p:nvPr>
        </p:nvSpPr>
        <p:spPr>
          <a:xfrm>
            <a:off x="306140" y="1260351"/>
            <a:ext cx="10009112" cy="5400600"/>
          </a:xfrm>
          <a:prstGeom prst="rect">
            <a:avLst/>
          </a:prstGeom>
        </p:spPr>
        <p:txBody>
          <a:bodyPr/>
          <a:lstStyle>
            <a:lvl1pPr marL="0" indent="0">
              <a:buNone/>
              <a:defRPr sz="3000" b="1" baseline="0">
                <a:latin typeface="HY중고딕" pitchFamily="18" charset="-127"/>
                <a:ea typeface="HY중고딕" pitchFamily="18" charset="-127"/>
              </a:defRPr>
            </a:lvl1pPr>
            <a:lvl2pPr marL="497845" indent="0">
              <a:buNone/>
              <a:defRPr sz="2800">
                <a:latin typeface="HY중고딕" pitchFamily="18" charset="-127"/>
                <a:ea typeface="HY중고딕" pitchFamily="18" charset="-127"/>
              </a:defRPr>
            </a:lvl2pPr>
            <a:lvl3pPr>
              <a:defRPr sz="2500">
                <a:latin typeface="HY중고딕" pitchFamily="18" charset="-127"/>
                <a:ea typeface="HY중고딕" pitchFamily="18" charset="-127"/>
              </a:defRPr>
            </a:lvl3pPr>
            <a:lvl4pPr marL="1493535" indent="0">
              <a:buNone/>
              <a:defRPr sz="2500">
                <a:latin typeface="HY중고딕" pitchFamily="18" charset="-127"/>
                <a:ea typeface="HY중고딕" pitchFamily="18" charset="-127"/>
              </a:defRPr>
            </a:lvl4pPr>
            <a:lvl5pPr>
              <a:defRPr sz="2500">
                <a:latin typeface="HY중고딕" pitchFamily="18" charset="-127"/>
                <a:ea typeface="HY중고딕" pitchFamily="18" charset="-127"/>
              </a:defRPr>
            </a:lvl5pPr>
          </a:lstStyle>
          <a:p>
            <a:pPr lvl="0"/>
            <a:r>
              <a:rPr lang="ko-KR" altLang="en-US" dirty="0"/>
              <a:t>□ 첫째 수준 </a:t>
            </a:r>
            <a:r>
              <a:rPr lang="en-US" altLang="ko-KR" dirty="0"/>
              <a:t>(HY</a:t>
            </a:r>
            <a:r>
              <a:rPr lang="ko-KR" altLang="en-US" dirty="0"/>
              <a:t>중고딕</a:t>
            </a:r>
            <a:r>
              <a:rPr lang="en-US" altLang="ko-KR" dirty="0"/>
              <a:t>, 30, </a:t>
            </a:r>
            <a:r>
              <a:rPr lang="ko-KR" altLang="en-US" dirty="0"/>
              <a:t>굵게</a:t>
            </a:r>
            <a:r>
              <a:rPr lang="en-US" altLang="ko-KR" dirty="0"/>
              <a:t>)</a:t>
            </a:r>
            <a:endParaRPr lang="ko-KR" altLang="en-US" dirty="0"/>
          </a:p>
          <a:p>
            <a:pPr lvl="1"/>
            <a:r>
              <a:rPr lang="en-US" altLang="ko-KR" dirty="0"/>
              <a:t>-</a:t>
            </a:r>
            <a:r>
              <a:rPr lang="ko-KR" altLang="en-US" dirty="0"/>
              <a:t> 둘째 수준 </a:t>
            </a:r>
            <a:r>
              <a:rPr lang="en-US" altLang="ko-KR" dirty="0"/>
              <a:t>(HY</a:t>
            </a:r>
            <a:r>
              <a:rPr lang="ko-KR" altLang="en-US" dirty="0"/>
              <a:t>중고딕</a:t>
            </a:r>
            <a:r>
              <a:rPr lang="en-US" altLang="ko-KR" dirty="0"/>
              <a:t>, 28)</a:t>
            </a:r>
            <a:endParaRPr lang="ko-KR" altLang="en-US" dirty="0"/>
          </a:p>
          <a:p>
            <a:pPr lvl="2"/>
            <a:r>
              <a:rPr lang="ko-KR" altLang="en-US" dirty="0"/>
              <a:t>셋째 수준 </a:t>
            </a:r>
            <a:r>
              <a:rPr lang="en-US" altLang="ko-KR" dirty="0"/>
              <a:t>(HY</a:t>
            </a:r>
            <a:r>
              <a:rPr lang="ko-KR" altLang="en-US" dirty="0"/>
              <a:t>중고딕</a:t>
            </a:r>
            <a:r>
              <a:rPr lang="en-US" altLang="ko-KR" dirty="0"/>
              <a:t>, 25)</a:t>
            </a:r>
            <a:endParaRPr lang="ko-KR" altLang="en-US" dirty="0"/>
          </a:p>
          <a:p>
            <a:pPr lvl="3"/>
            <a:r>
              <a:rPr lang="en-US" altLang="ko-KR" dirty="0"/>
              <a:t>- </a:t>
            </a:r>
            <a:r>
              <a:rPr lang="ko-KR" altLang="en-US" dirty="0"/>
              <a:t>넷째 수준 </a:t>
            </a:r>
            <a:r>
              <a:rPr lang="en-US" altLang="ko-KR" dirty="0"/>
              <a:t>(HY</a:t>
            </a:r>
            <a:r>
              <a:rPr lang="ko-KR" altLang="en-US" dirty="0"/>
              <a:t>중고딕</a:t>
            </a:r>
            <a:r>
              <a:rPr lang="en-US" altLang="ko-KR" dirty="0"/>
              <a:t>, 25)</a:t>
            </a:r>
            <a:endParaRPr lang="ko-KR" altLang="en-US" dirty="0"/>
          </a:p>
        </p:txBody>
      </p:sp>
      <p:sp>
        <p:nvSpPr>
          <p:cNvPr id="4" name="날짜 개체 틀 3"/>
          <p:cNvSpPr>
            <a:spLocks noGrp="1"/>
          </p:cNvSpPr>
          <p:nvPr>
            <p:ph type="dt" sz="half" idx="10"/>
          </p:nvPr>
        </p:nvSpPr>
        <p:spPr/>
        <p:txBody>
          <a:bodyPr/>
          <a:lstStyle/>
          <a:p>
            <a:fld id="{5C89D9B9-AAC4-4186-832C-ACCB8141D63A}" type="datetime1">
              <a:rPr lang="ko-KR" altLang="en-US" smtClean="0"/>
              <a:t>2025-11-28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B597EC8-03FB-421D-BA76-5865596B8B77}" type="slidenum">
              <a:rPr lang="ko-KR" altLang="en-US" smtClean="0"/>
              <a:pPr/>
              <a:t>‹#›</a:t>
            </a:fld>
            <a:endParaRPr lang="ko-KR" altLang="en-US"/>
          </a:p>
        </p:txBody>
      </p:sp>
    </p:spTree>
    <p:extLst>
      <p:ext uri="{BB962C8B-B14F-4D97-AF65-F5344CB8AC3E}">
        <p14:creationId xmlns:p14="http://schemas.microsoft.com/office/powerpoint/2010/main" val="37244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4_제목 및 내용">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306140" y="91456"/>
            <a:ext cx="8496944" cy="736847"/>
          </a:xfrm>
          <a:prstGeom prst="rect">
            <a:avLst/>
          </a:prstGeom>
        </p:spPr>
        <p:txBody>
          <a:bodyPr anchor="ctr"/>
          <a:lstStyle>
            <a:lvl1pPr algn="l">
              <a:defRPr sz="3000" b="0">
                <a:latin typeface="HY견고딕" pitchFamily="18" charset="-127"/>
                <a:ea typeface="HY견고딕" pitchFamily="18" charset="-127"/>
              </a:defRPr>
            </a:lvl1pPr>
          </a:lstStyle>
          <a:p>
            <a:r>
              <a:rPr lang="ko-KR" altLang="en-US" dirty="0"/>
              <a:t>마스터 제목 스타일 편집</a:t>
            </a:r>
            <a:r>
              <a:rPr lang="en-US" altLang="ko-KR" dirty="0"/>
              <a:t>(HY</a:t>
            </a:r>
            <a:r>
              <a:rPr lang="ko-KR" altLang="en-US" dirty="0"/>
              <a:t>견고딕</a:t>
            </a:r>
            <a:r>
              <a:rPr lang="en-US" altLang="ko-KR" dirty="0"/>
              <a:t>, 30)</a:t>
            </a:r>
            <a:endParaRPr lang="ko-KR" altLang="en-US" dirty="0"/>
          </a:p>
        </p:txBody>
      </p:sp>
      <p:sp>
        <p:nvSpPr>
          <p:cNvPr id="3" name="내용 개체 틀 2"/>
          <p:cNvSpPr>
            <a:spLocks noGrp="1"/>
          </p:cNvSpPr>
          <p:nvPr>
            <p:ph idx="1" hasCustomPrompt="1"/>
          </p:nvPr>
        </p:nvSpPr>
        <p:spPr>
          <a:xfrm>
            <a:off x="306140" y="1260351"/>
            <a:ext cx="10009112" cy="5400600"/>
          </a:xfrm>
          <a:prstGeom prst="rect">
            <a:avLst/>
          </a:prstGeom>
        </p:spPr>
        <p:txBody>
          <a:bodyPr/>
          <a:lstStyle>
            <a:lvl1pPr marL="0" indent="0">
              <a:buNone/>
              <a:defRPr sz="3000" b="1" baseline="0">
                <a:latin typeface="HY중고딕" pitchFamily="18" charset="-127"/>
                <a:ea typeface="HY중고딕" pitchFamily="18" charset="-127"/>
              </a:defRPr>
            </a:lvl1pPr>
            <a:lvl2pPr marL="497845" indent="0">
              <a:buNone/>
              <a:defRPr sz="2800">
                <a:latin typeface="HY중고딕" pitchFamily="18" charset="-127"/>
                <a:ea typeface="HY중고딕" pitchFamily="18" charset="-127"/>
              </a:defRPr>
            </a:lvl2pPr>
            <a:lvl3pPr>
              <a:defRPr sz="2500">
                <a:latin typeface="HY중고딕" pitchFamily="18" charset="-127"/>
                <a:ea typeface="HY중고딕" pitchFamily="18" charset="-127"/>
              </a:defRPr>
            </a:lvl3pPr>
            <a:lvl4pPr marL="1493535" indent="0">
              <a:buNone/>
              <a:defRPr sz="2500">
                <a:latin typeface="HY중고딕" pitchFamily="18" charset="-127"/>
                <a:ea typeface="HY중고딕" pitchFamily="18" charset="-127"/>
              </a:defRPr>
            </a:lvl4pPr>
            <a:lvl5pPr>
              <a:defRPr sz="2500">
                <a:latin typeface="HY중고딕" pitchFamily="18" charset="-127"/>
                <a:ea typeface="HY중고딕" pitchFamily="18" charset="-127"/>
              </a:defRPr>
            </a:lvl5pPr>
          </a:lstStyle>
          <a:p>
            <a:pPr lvl="0"/>
            <a:r>
              <a:rPr lang="ko-KR" altLang="en-US" dirty="0"/>
              <a:t>□ 첫째 수준 </a:t>
            </a:r>
            <a:r>
              <a:rPr lang="en-US" altLang="ko-KR" dirty="0"/>
              <a:t>(HY</a:t>
            </a:r>
            <a:r>
              <a:rPr lang="ko-KR" altLang="en-US" dirty="0"/>
              <a:t>중고딕</a:t>
            </a:r>
            <a:r>
              <a:rPr lang="en-US" altLang="ko-KR" dirty="0"/>
              <a:t>, 30, </a:t>
            </a:r>
            <a:r>
              <a:rPr lang="ko-KR" altLang="en-US" dirty="0"/>
              <a:t>굵게</a:t>
            </a:r>
            <a:r>
              <a:rPr lang="en-US" altLang="ko-KR" dirty="0"/>
              <a:t>)</a:t>
            </a:r>
            <a:endParaRPr lang="ko-KR" altLang="en-US" dirty="0"/>
          </a:p>
          <a:p>
            <a:pPr lvl="1"/>
            <a:r>
              <a:rPr lang="en-US" altLang="ko-KR" dirty="0"/>
              <a:t>-</a:t>
            </a:r>
            <a:r>
              <a:rPr lang="ko-KR" altLang="en-US" dirty="0"/>
              <a:t> 둘째 수준 </a:t>
            </a:r>
            <a:r>
              <a:rPr lang="en-US" altLang="ko-KR" dirty="0"/>
              <a:t>(HY</a:t>
            </a:r>
            <a:r>
              <a:rPr lang="ko-KR" altLang="en-US" dirty="0"/>
              <a:t>중고딕</a:t>
            </a:r>
            <a:r>
              <a:rPr lang="en-US" altLang="ko-KR" dirty="0"/>
              <a:t>, 28)</a:t>
            </a:r>
            <a:endParaRPr lang="ko-KR" altLang="en-US" dirty="0"/>
          </a:p>
          <a:p>
            <a:pPr lvl="2"/>
            <a:r>
              <a:rPr lang="ko-KR" altLang="en-US" dirty="0"/>
              <a:t>셋째 수준 </a:t>
            </a:r>
            <a:r>
              <a:rPr lang="en-US" altLang="ko-KR" dirty="0"/>
              <a:t>(HY</a:t>
            </a:r>
            <a:r>
              <a:rPr lang="ko-KR" altLang="en-US" dirty="0"/>
              <a:t>중고딕</a:t>
            </a:r>
            <a:r>
              <a:rPr lang="en-US" altLang="ko-KR" dirty="0"/>
              <a:t>, 25)</a:t>
            </a:r>
            <a:endParaRPr lang="ko-KR" altLang="en-US" dirty="0"/>
          </a:p>
          <a:p>
            <a:pPr lvl="3"/>
            <a:r>
              <a:rPr lang="en-US" altLang="ko-KR" dirty="0"/>
              <a:t>- </a:t>
            </a:r>
            <a:r>
              <a:rPr lang="ko-KR" altLang="en-US" dirty="0"/>
              <a:t>넷째 수준 </a:t>
            </a:r>
            <a:r>
              <a:rPr lang="en-US" altLang="ko-KR" dirty="0"/>
              <a:t>(HY</a:t>
            </a:r>
            <a:r>
              <a:rPr lang="ko-KR" altLang="en-US" dirty="0"/>
              <a:t>중고딕</a:t>
            </a:r>
            <a:r>
              <a:rPr lang="en-US" altLang="ko-KR" dirty="0"/>
              <a:t>, 25)</a:t>
            </a:r>
            <a:endParaRPr lang="ko-KR" altLang="en-US" dirty="0"/>
          </a:p>
        </p:txBody>
      </p:sp>
      <p:sp>
        <p:nvSpPr>
          <p:cNvPr id="4" name="날짜 개체 틀 3"/>
          <p:cNvSpPr>
            <a:spLocks noGrp="1"/>
          </p:cNvSpPr>
          <p:nvPr>
            <p:ph type="dt" sz="half" idx="10"/>
          </p:nvPr>
        </p:nvSpPr>
        <p:spPr/>
        <p:txBody>
          <a:bodyPr/>
          <a:lstStyle/>
          <a:p>
            <a:fld id="{5C89D9B9-AAC4-4186-832C-ACCB8141D63A}" type="datetime1">
              <a:rPr lang="ko-KR" altLang="en-US" smtClean="0"/>
              <a:t>2025-11-28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B597EC8-03FB-421D-BA76-5865596B8B77}" type="slidenum">
              <a:rPr lang="ko-KR" altLang="en-US" smtClean="0"/>
              <a:pPr/>
              <a:t>‹#›</a:t>
            </a:fld>
            <a:endParaRPr lang="ko-KR" altLang="en-US"/>
          </a:p>
        </p:txBody>
      </p:sp>
    </p:spTree>
    <p:extLst>
      <p:ext uri="{BB962C8B-B14F-4D97-AF65-F5344CB8AC3E}">
        <p14:creationId xmlns:p14="http://schemas.microsoft.com/office/powerpoint/2010/main" val="26567812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4" name="날짜 개체 틀 3"/>
          <p:cNvSpPr>
            <a:spLocks noGrp="1"/>
          </p:cNvSpPr>
          <p:nvPr>
            <p:ph type="dt" sz="half" idx="2"/>
          </p:nvPr>
        </p:nvSpPr>
        <p:spPr>
          <a:xfrm>
            <a:off x="534670" y="7008172"/>
            <a:ext cx="2495127" cy="402567"/>
          </a:xfrm>
          <a:prstGeom prst="rect">
            <a:avLst/>
          </a:prstGeom>
        </p:spPr>
        <p:txBody>
          <a:bodyPr vert="horz" lIns="99569" tIns="49785" rIns="99569" bIns="49785" rtlCol="0" anchor="ctr"/>
          <a:lstStyle>
            <a:lvl1pPr algn="l">
              <a:defRPr sz="1300">
                <a:solidFill>
                  <a:schemeClr val="tx1">
                    <a:tint val="75000"/>
                  </a:schemeClr>
                </a:solidFill>
              </a:defRPr>
            </a:lvl1pPr>
          </a:lstStyle>
          <a:p>
            <a:fld id="{3B6FB339-8C5D-44DF-A368-296A032EEE0C}" type="datetime1">
              <a:rPr lang="ko-KR" altLang="en-US" smtClean="0"/>
              <a:t>2025-11-28</a:t>
            </a:fld>
            <a:endParaRPr lang="ko-KR" altLang="en-US"/>
          </a:p>
        </p:txBody>
      </p:sp>
      <p:sp>
        <p:nvSpPr>
          <p:cNvPr id="5" name="바닥글 개체 틀 4"/>
          <p:cNvSpPr>
            <a:spLocks noGrp="1"/>
          </p:cNvSpPr>
          <p:nvPr>
            <p:ph type="ftr" sz="quarter" idx="3"/>
          </p:nvPr>
        </p:nvSpPr>
        <p:spPr>
          <a:xfrm>
            <a:off x="3653579" y="7008172"/>
            <a:ext cx="3386243" cy="402567"/>
          </a:xfrm>
          <a:prstGeom prst="rect">
            <a:avLst/>
          </a:prstGeom>
        </p:spPr>
        <p:txBody>
          <a:bodyPr vert="horz" lIns="99569" tIns="49785" rIns="99569" bIns="49785" rtlCol="0" anchor="ctr"/>
          <a:lstStyle>
            <a:lvl1pPr algn="ctr">
              <a:defRPr sz="13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7663603" y="7008172"/>
            <a:ext cx="2495127" cy="402567"/>
          </a:xfrm>
          <a:prstGeom prst="rect">
            <a:avLst/>
          </a:prstGeom>
        </p:spPr>
        <p:txBody>
          <a:bodyPr vert="horz" lIns="99569" tIns="49785" rIns="99569" bIns="49785" rtlCol="0" anchor="ctr"/>
          <a:lstStyle>
            <a:lvl1pPr algn="r">
              <a:defRPr sz="1300">
                <a:solidFill>
                  <a:schemeClr val="tx1">
                    <a:tint val="75000"/>
                  </a:schemeClr>
                </a:solidFill>
              </a:defRPr>
            </a:lvl1pPr>
          </a:lstStyle>
          <a:p>
            <a:fld id="{1B597EC8-03FB-421D-BA76-5865596B8B77}"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50" r:id="rId1"/>
    <p:sldLayoutId id="2147483654" r:id="rId2"/>
    <p:sldLayoutId id="2147483655" r:id="rId3"/>
  </p:sldLayoutIdLst>
  <p:hf hdr="0" ftr="0" dt="0"/>
  <p:txStyles>
    <p:titleStyle>
      <a:lvl1pPr algn="ctr" defTabSz="995690" rtl="0" eaLnBrk="1" latinLnBrk="1" hangingPunct="1">
        <a:spcBef>
          <a:spcPct val="0"/>
        </a:spcBef>
        <a:buNone/>
        <a:defRPr sz="4800" kern="1200">
          <a:solidFill>
            <a:schemeClr val="tx1"/>
          </a:solidFill>
          <a:latin typeface="+mj-lt"/>
          <a:ea typeface="+mj-ea"/>
          <a:cs typeface="+mj-cs"/>
        </a:defRPr>
      </a:lvl1pPr>
    </p:titleStyle>
    <p:bodyStyle>
      <a:lvl1pPr marL="373384" indent="-373384" algn="l" defTabSz="995690" rtl="0" eaLnBrk="1" latinLnBrk="1" hangingPunct="1">
        <a:spcBef>
          <a:spcPct val="20000"/>
        </a:spcBef>
        <a:buFont typeface="Arial" pitchFamily="34" charset="0"/>
        <a:buChar char="•"/>
        <a:defRPr sz="3500" kern="1200">
          <a:solidFill>
            <a:schemeClr val="tx1"/>
          </a:solidFill>
          <a:latin typeface="+mn-lt"/>
          <a:ea typeface="+mn-ea"/>
          <a:cs typeface="+mn-cs"/>
        </a:defRPr>
      </a:lvl1pPr>
      <a:lvl2pPr marL="808998" indent="-311153" algn="l" defTabSz="995690" rtl="0" eaLnBrk="1" latinLnBrk="1" hangingPunct="1">
        <a:spcBef>
          <a:spcPct val="20000"/>
        </a:spcBef>
        <a:buFont typeface="Arial" pitchFamily="34" charset="0"/>
        <a:buChar char="–"/>
        <a:defRPr sz="3000" kern="1200">
          <a:solidFill>
            <a:schemeClr val="tx1"/>
          </a:solidFill>
          <a:latin typeface="+mn-lt"/>
          <a:ea typeface="+mn-ea"/>
          <a:cs typeface="+mn-cs"/>
        </a:defRPr>
      </a:lvl2pPr>
      <a:lvl3pPr marL="1244613" indent="-248923" algn="l" defTabSz="995690" rtl="0" eaLnBrk="1" latinLnBrk="1" hangingPunct="1">
        <a:spcBef>
          <a:spcPct val="20000"/>
        </a:spcBef>
        <a:buFont typeface="Arial" pitchFamily="34" charset="0"/>
        <a:buChar char="•"/>
        <a:defRPr sz="2600" kern="1200">
          <a:solidFill>
            <a:schemeClr val="tx1"/>
          </a:solidFill>
          <a:latin typeface="+mn-lt"/>
          <a:ea typeface="+mn-ea"/>
          <a:cs typeface="+mn-cs"/>
        </a:defRPr>
      </a:lvl3pPr>
      <a:lvl4pPr marL="1742458"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4pPr>
      <a:lvl5pPr marL="2240303"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5pPr>
      <a:lvl6pPr marL="2738148"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9pPr>
    </p:bodyStyle>
    <p:otherStyle>
      <a:defPPr>
        <a:defRPr lang="ko-KR"/>
      </a:defPPr>
      <a:lvl1pPr marL="0" algn="l" defTabSz="995690" rtl="0" eaLnBrk="1" latinLnBrk="1" hangingPunct="1">
        <a:defRPr sz="2000" kern="1200">
          <a:solidFill>
            <a:schemeClr val="tx1"/>
          </a:solidFill>
          <a:latin typeface="+mn-lt"/>
          <a:ea typeface="+mn-ea"/>
          <a:cs typeface="+mn-cs"/>
        </a:defRPr>
      </a:lvl1pPr>
      <a:lvl2pPr marL="497845" algn="l" defTabSz="995690" rtl="0" eaLnBrk="1" latinLnBrk="1" hangingPunct="1">
        <a:defRPr sz="2000" kern="1200">
          <a:solidFill>
            <a:schemeClr val="tx1"/>
          </a:solidFill>
          <a:latin typeface="+mn-lt"/>
          <a:ea typeface="+mn-ea"/>
          <a:cs typeface="+mn-cs"/>
        </a:defRPr>
      </a:lvl2pPr>
      <a:lvl3pPr marL="995690" algn="l" defTabSz="995690" rtl="0" eaLnBrk="1" latinLnBrk="1" hangingPunct="1">
        <a:defRPr sz="2000" kern="1200">
          <a:solidFill>
            <a:schemeClr val="tx1"/>
          </a:solidFill>
          <a:latin typeface="+mn-lt"/>
          <a:ea typeface="+mn-ea"/>
          <a:cs typeface="+mn-cs"/>
        </a:defRPr>
      </a:lvl3pPr>
      <a:lvl4pPr marL="1493535" algn="l" defTabSz="995690" rtl="0" eaLnBrk="1" latinLnBrk="1" hangingPunct="1">
        <a:defRPr sz="2000" kern="1200">
          <a:solidFill>
            <a:schemeClr val="tx1"/>
          </a:solidFill>
          <a:latin typeface="+mn-lt"/>
          <a:ea typeface="+mn-ea"/>
          <a:cs typeface="+mn-cs"/>
        </a:defRPr>
      </a:lvl4pPr>
      <a:lvl5pPr marL="1991380" algn="l" defTabSz="995690" rtl="0" eaLnBrk="1" latinLnBrk="1" hangingPunct="1">
        <a:defRPr sz="2000" kern="1200">
          <a:solidFill>
            <a:schemeClr val="tx1"/>
          </a:solidFill>
          <a:latin typeface="+mn-lt"/>
          <a:ea typeface="+mn-ea"/>
          <a:cs typeface="+mn-cs"/>
        </a:defRPr>
      </a:lvl5pPr>
      <a:lvl6pPr marL="2489225" algn="l" defTabSz="995690" rtl="0" eaLnBrk="1" latinLnBrk="1" hangingPunct="1">
        <a:defRPr sz="2000" kern="1200">
          <a:solidFill>
            <a:schemeClr val="tx1"/>
          </a:solidFill>
          <a:latin typeface="+mn-lt"/>
          <a:ea typeface="+mn-ea"/>
          <a:cs typeface="+mn-cs"/>
        </a:defRPr>
      </a:lvl6pPr>
      <a:lvl7pPr marL="2987070" algn="l" defTabSz="995690" rtl="0" eaLnBrk="1" latinLnBrk="1" hangingPunct="1">
        <a:defRPr sz="2000" kern="1200">
          <a:solidFill>
            <a:schemeClr val="tx1"/>
          </a:solidFill>
          <a:latin typeface="+mn-lt"/>
          <a:ea typeface="+mn-ea"/>
          <a:cs typeface="+mn-cs"/>
        </a:defRPr>
      </a:lvl7pPr>
      <a:lvl8pPr marL="3484916" algn="l" defTabSz="995690" rtl="0" eaLnBrk="1" latinLnBrk="1" hangingPunct="1">
        <a:defRPr sz="2000" kern="1200">
          <a:solidFill>
            <a:schemeClr val="tx1"/>
          </a:solidFill>
          <a:latin typeface="+mn-lt"/>
          <a:ea typeface="+mn-ea"/>
          <a:cs typeface="+mn-cs"/>
        </a:defRPr>
      </a:lvl8pPr>
      <a:lvl9pPr marL="3982761" algn="l" defTabSz="995690" rtl="0" eaLnBrk="1" latinLnBrk="1"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1302444" y="2556495"/>
            <a:ext cx="8215370" cy="1384995"/>
          </a:xfrm>
          <a:prstGeom prst="rect">
            <a:avLst/>
          </a:prstGeom>
          <a:noFill/>
        </p:spPr>
        <p:txBody>
          <a:bodyPr wrap="square" rtlCol="0">
            <a:spAutoFit/>
          </a:bodyPr>
          <a:lstStyle/>
          <a:p>
            <a:pPr algn="ctr"/>
            <a:r>
              <a:rPr lang="en-US" altLang="ko-KR" sz="2800" b="1" dirty="0">
                <a:latin typeface="fkGrotesk"/>
              </a:rPr>
              <a:t>Longitudinal Bioelectrical Impedance Analysis Distinguishes Cognitive Stability from Early Transition to Mild Cognitive Impairment in Older Adults</a:t>
            </a:r>
          </a:p>
        </p:txBody>
      </p:sp>
      <p:sp>
        <p:nvSpPr>
          <p:cNvPr id="5" name="TextBox 4"/>
          <p:cNvSpPr txBox="1"/>
          <p:nvPr/>
        </p:nvSpPr>
        <p:spPr>
          <a:xfrm>
            <a:off x="4275130" y="4572719"/>
            <a:ext cx="5214974" cy="707886"/>
          </a:xfrm>
          <a:prstGeom prst="rect">
            <a:avLst/>
          </a:prstGeom>
          <a:noFill/>
        </p:spPr>
        <p:txBody>
          <a:bodyPr wrap="square" rtlCol="0">
            <a:spAutoFit/>
          </a:bodyPr>
          <a:lstStyle/>
          <a:p>
            <a:pPr algn="r"/>
            <a:r>
              <a:rPr lang="en-GB" altLang="ko-KR" b="1" dirty="0">
                <a:latin typeface="fkGrotesk"/>
              </a:rPr>
              <a:t>Lab Meeting </a:t>
            </a:r>
          </a:p>
          <a:p>
            <a:pPr algn="r"/>
            <a:r>
              <a:rPr lang="en-GB" altLang="ko-KR" sz="2000" i="0" dirty="0">
                <a:effectLst/>
                <a:latin typeface="fkGrotesk"/>
              </a:rPr>
              <a:t>2025.11.20</a:t>
            </a:r>
          </a:p>
        </p:txBody>
      </p:sp>
    </p:spTree>
    <p:extLst>
      <p:ext uri="{BB962C8B-B14F-4D97-AF65-F5344CB8AC3E}">
        <p14:creationId xmlns:p14="http://schemas.microsoft.com/office/powerpoint/2010/main" val="1962923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174BAC-FB71-DDE8-7515-09A3532D89FA}"/>
              </a:ext>
            </a:extLst>
          </p:cNvPr>
          <p:cNvSpPr txBox="1"/>
          <p:nvPr/>
        </p:nvSpPr>
        <p:spPr>
          <a:xfrm>
            <a:off x="378148" y="252239"/>
            <a:ext cx="6984776" cy="400110"/>
          </a:xfrm>
          <a:prstGeom prst="rect">
            <a:avLst/>
          </a:prstGeom>
          <a:noFill/>
        </p:spPr>
        <p:txBody>
          <a:bodyPr wrap="square">
            <a:spAutoFit/>
          </a:bodyPr>
          <a:lstStyle/>
          <a:p>
            <a:r>
              <a:rPr lang="en-US" altLang="ko-KR" b="0" i="0" dirty="0">
                <a:effectLst/>
                <a:latin typeface="fkGrotesk"/>
                <a:cs typeface="Arial" panose="020B0604020202020204" pitchFamily="34" charset="0"/>
              </a:rPr>
              <a:t>Data Pre-processing Overview</a:t>
            </a:r>
            <a:endParaRPr lang="ko-KR" altLang="en-US" b="1" dirty="0">
              <a:latin typeface="fkGrotesk"/>
              <a:cs typeface="Arial" panose="020B0604020202020204" pitchFamily="34" charset="0"/>
            </a:endParaRPr>
          </a:p>
        </p:txBody>
      </p:sp>
      <p:sp>
        <p:nvSpPr>
          <p:cNvPr id="6" name="TextBox 5">
            <a:extLst>
              <a:ext uri="{FF2B5EF4-FFF2-40B4-BE49-F238E27FC236}">
                <a16:creationId xmlns:a16="http://schemas.microsoft.com/office/drawing/2014/main" id="{5DFA8C3D-28EA-EF4C-7FAF-776BF34901F4}"/>
              </a:ext>
            </a:extLst>
          </p:cNvPr>
          <p:cNvSpPr txBox="1"/>
          <p:nvPr/>
        </p:nvSpPr>
        <p:spPr>
          <a:xfrm>
            <a:off x="517872" y="928779"/>
            <a:ext cx="9217024" cy="3693319"/>
          </a:xfrm>
          <a:prstGeom prst="rect">
            <a:avLst/>
          </a:prstGeom>
          <a:noFill/>
        </p:spPr>
        <p:txBody>
          <a:bodyPr wrap="square">
            <a:spAutoFit/>
          </a:bodyPr>
          <a:lstStyle/>
          <a:p>
            <a:pPr marL="342900" indent="-342900" algn="l">
              <a:buFont typeface="Arial" panose="020B0604020202020204" pitchFamily="34" charset="0"/>
              <a:buChar char="•"/>
            </a:pPr>
            <a:r>
              <a:rPr lang="en-US" altLang="ko-KR" sz="1800" b="0" i="0" dirty="0">
                <a:effectLst/>
                <a:latin typeface="fkGrotesk"/>
                <a:cs typeface="Arial" panose="020B0604020202020204" pitchFamily="34" charset="0"/>
              </a:rPr>
              <a:t>Raw data were imported and standardized by cleaning cognitive diagnosis labels and key categorical fields (e.g., sex, cold-heat pattern, MRI/PET amyloid status).</a:t>
            </a:r>
          </a:p>
          <a:p>
            <a:pPr marL="342900" indent="-342900" algn="l">
              <a:buFont typeface="Arial" panose="020B0604020202020204" pitchFamily="34" charset="0"/>
              <a:buChar char="•"/>
            </a:pPr>
            <a:r>
              <a:rPr lang="en-US" altLang="ko-KR" sz="1800" b="0" i="0" dirty="0">
                <a:effectLst/>
                <a:latin typeface="fkGrotesk"/>
                <a:cs typeface="Arial" panose="020B0604020202020204" pitchFamily="34" charset="0"/>
              </a:rPr>
              <a:t>Biologically invalid or implausible cases were removed by screening segmental bioimpedance variables for outliers or monotonic errors.</a:t>
            </a:r>
          </a:p>
          <a:p>
            <a:pPr marL="342900" indent="-342900" algn="l">
              <a:buFont typeface="Arial" panose="020B0604020202020204" pitchFamily="34" charset="0"/>
              <a:buChar char="•"/>
            </a:pPr>
            <a:r>
              <a:rPr lang="en-US" altLang="ko-KR" sz="1800" b="0" i="0" dirty="0">
                <a:effectLst/>
                <a:latin typeface="fkGrotesk"/>
                <a:cs typeface="Arial" panose="020B0604020202020204" pitchFamily="34" charset="0"/>
              </a:rPr>
              <a:t>Numeric/categorical fields were harmonized; derived indices and composite variables were calculated for segmental impedance features.</a:t>
            </a:r>
          </a:p>
          <a:p>
            <a:pPr marL="342900" indent="-342900" algn="l">
              <a:buFont typeface="Arial" panose="020B0604020202020204" pitchFamily="34" charset="0"/>
              <a:buChar char="•"/>
            </a:pPr>
            <a:r>
              <a:rPr lang="en-US" altLang="ko-KR" sz="1800" b="0" i="0" dirty="0">
                <a:effectLst/>
                <a:latin typeface="fkGrotesk"/>
                <a:cs typeface="Arial" panose="020B0604020202020204" pitchFamily="34" charset="0"/>
              </a:rPr>
              <a:t>Dataset was restricted to eligible adults (≥55 years, valid CN/MCI/AD diagnosis).</a:t>
            </a:r>
          </a:p>
          <a:p>
            <a:pPr marL="342900" indent="-342900" algn="l">
              <a:buFont typeface="Arial" panose="020B0604020202020204" pitchFamily="34" charset="0"/>
              <a:buChar char="•"/>
            </a:pPr>
            <a:r>
              <a:rPr lang="en-US" altLang="ko-KR" sz="1800" b="0" i="0" dirty="0">
                <a:effectLst/>
                <a:latin typeface="fkGrotesk"/>
                <a:cs typeface="Arial" panose="020B0604020202020204" pitchFamily="34" charset="0"/>
              </a:rPr>
              <a:t>Missing cognitive scores were imputed using predictive mean matching, stratified by diagnosis.</a:t>
            </a:r>
          </a:p>
          <a:p>
            <a:pPr marL="342900" indent="-342900" algn="l">
              <a:buFont typeface="Arial" panose="020B0604020202020204" pitchFamily="34" charset="0"/>
              <a:buChar char="•"/>
            </a:pPr>
            <a:r>
              <a:rPr lang="en-US" altLang="ko-KR" sz="1800" b="1" i="0" dirty="0">
                <a:effectLst/>
                <a:latin typeface="fkGrotesk"/>
                <a:cs typeface="Arial" panose="020B0604020202020204" pitchFamily="34" charset="0"/>
              </a:rPr>
              <a:t>Outliers were excluded </a:t>
            </a:r>
            <a:r>
              <a:rPr lang="en-US" altLang="ko-KR" sz="1800" b="0" i="0" dirty="0">
                <a:effectLst/>
                <a:latin typeface="fkGrotesk"/>
                <a:cs typeface="Arial" panose="020B0604020202020204" pitchFamily="34" charset="0"/>
              </a:rPr>
              <a:t>(Z-score normalization was applied to all core bioimpedance variables. Samples were removed if any core feature exceeded an absolute z-score of 3, identifying and retaining only physiologically plausible cases.).</a:t>
            </a:r>
          </a:p>
          <a:p>
            <a:pPr marL="342900" indent="-342900" algn="l">
              <a:buFont typeface="Arial" panose="020B0604020202020204" pitchFamily="34" charset="0"/>
              <a:buChar char="•"/>
            </a:pPr>
            <a:r>
              <a:rPr lang="en-US" altLang="ko-KR" sz="1800" b="0" i="0" dirty="0">
                <a:effectLst/>
                <a:latin typeface="fkGrotesk"/>
                <a:cs typeface="Arial" panose="020B0604020202020204" pitchFamily="34" charset="0"/>
              </a:rPr>
              <a:t>The finalized, quality-controlled dataset was used for all subsequent analyses.</a:t>
            </a:r>
          </a:p>
        </p:txBody>
      </p:sp>
      <p:pic>
        <p:nvPicPr>
          <p:cNvPr id="4" name="그림 3">
            <a:extLst>
              <a:ext uri="{FF2B5EF4-FFF2-40B4-BE49-F238E27FC236}">
                <a16:creationId xmlns:a16="http://schemas.microsoft.com/office/drawing/2014/main" id="{A45CF96F-4E74-61CA-6EA4-7E1D9F970EB8}"/>
              </a:ext>
            </a:extLst>
          </p:cNvPr>
          <p:cNvPicPr>
            <a:picLocks noChangeAspect="1"/>
          </p:cNvPicPr>
          <p:nvPr/>
        </p:nvPicPr>
        <p:blipFill>
          <a:blip r:embed="rId3"/>
          <a:stretch>
            <a:fillRect/>
          </a:stretch>
        </p:blipFill>
        <p:spPr>
          <a:xfrm>
            <a:off x="1314252" y="4697260"/>
            <a:ext cx="8064896" cy="2611764"/>
          </a:xfrm>
          <a:prstGeom prst="rect">
            <a:avLst/>
          </a:prstGeom>
        </p:spPr>
      </p:pic>
      <p:sp>
        <p:nvSpPr>
          <p:cNvPr id="7" name="직사각형 6">
            <a:extLst>
              <a:ext uri="{FF2B5EF4-FFF2-40B4-BE49-F238E27FC236}">
                <a16:creationId xmlns:a16="http://schemas.microsoft.com/office/drawing/2014/main" id="{E14CBBFC-97A6-4922-4843-AB2AD64EEFF7}"/>
              </a:ext>
            </a:extLst>
          </p:cNvPr>
          <p:cNvSpPr/>
          <p:nvPr/>
        </p:nvSpPr>
        <p:spPr>
          <a:xfrm>
            <a:off x="1242244" y="5796855"/>
            <a:ext cx="72008"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 name="직선 연결선 9">
            <a:extLst>
              <a:ext uri="{FF2B5EF4-FFF2-40B4-BE49-F238E27FC236}">
                <a16:creationId xmlns:a16="http://schemas.microsoft.com/office/drawing/2014/main" id="{D72095F8-FBAD-0541-355C-2F9C4FD57652}"/>
              </a:ext>
            </a:extLst>
          </p:cNvPr>
          <p:cNvCxnSpPr>
            <a:cxnSpLocks/>
          </p:cNvCxnSpPr>
          <p:nvPr/>
        </p:nvCxnSpPr>
        <p:spPr>
          <a:xfrm flipV="1">
            <a:off x="1242244" y="5796855"/>
            <a:ext cx="8136904" cy="146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16B06A56-7731-1F6A-689C-EA98F537E01E}"/>
              </a:ext>
            </a:extLst>
          </p:cNvPr>
          <p:cNvCxnSpPr>
            <a:cxnSpLocks/>
          </p:cNvCxnSpPr>
          <p:nvPr/>
        </p:nvCxnSpPr>
        <p:spPr>
          <a:xfrm flipV="1">
            <a:off x="1242244" y="6443464"/>
            <a:ext cx="8136904" cy="146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8192579D-250C-E7CD-72EF-085D756B215E}"/>
              </a:ext>
            </a:extLst>
          </p:cNvPr>
          <p:cNvCxnSpPr>
            <a:cxnSpLocks/>
          </p:cNvCxnSpPr>
          <p:nvPr/>
        </p:nvCxnSpPr>
        <p:spPr>
          <a:xfrm flipV="1">
            <a:off x="9379148" y="5796855"/>
            <a:ext cx="0" cy="646609"/>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6033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5A911-2286-D6C0-B778-52D701D0B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64E6F3-5B87-591A-5208-6483BB853BC8}"/>
              </a:ext>
            </a:extLst>
          </p:cNvPr>
          <p:cNvSpPr txBox="1"/>
          <p:nvPr/>
        </p:nvSpPr>
        <p:spPr>
          <a:xfrm>
            <a:off x="702184" y="900311"/>
            <a:ext cx="9289032" cy="6273512"/>
          </a:xfrm>
          <a:prstGeom prst="rect">
            <a:avLst/>
          </a:prstGeom>
          <a:noFill/>
        </p:spPr>
        <p:txBody>
          <a:bodyPr wrap="square">
            <a:spAutoFit/>
          </a:bodyPr>
          <a:lstStyle/>
          <a:p>
            <a:pPr algn="l">
              <a:lnSpc>
                <a:spcPct val="150000"/>
              </a:lnSpc>
              <a:buNone/>
            </a:pPr>
            <a:r>
              <a:rPr lang="vi-VN" sz="1800" b="1" i="0" dirty="0">
                <a:effectLst/>
              </a:rPr>
              <a:t>Linear Mixed-Effects Modeling</a:t>
            </a:r>
          </a:p>
          <a:p>
            <a:pPr marL="285750" indent="-285750" algn="l">
              <a:lnSpc>
                <a:spcPct val="150000"/>
              </a:lnSpc>
              <a:buFont typeface="Arial" panose="020B0604020202020204" pitchFamily="34" charset="0"/>
              <a:buChar char="•"/>
            </a:pPr>
            <a:r>
              <a:rPr lang="vi-VN" sz="1800" b="0" i="0" dirty="0">
                <a:effectLst/>
              </a:rPr>
              <a:t>Model specification: </a:t>
            </a:r>
            <a:r>
              <a:rPr lang="en-US" sz="1800" b="1" i="1" dirty="0" err="1">
                <a:effectLst/>
              </a:rPr>
              <a:t>BIA</a:t>
            </a:r>
            <a:r>
              <a:rPr lang="en-US" sz="1800" b="1" i="1" dirty="0" err="1">
                <a:effectLst/>
                <a:latin typeface="Arial" panose="020B0604020202020204" pitchFamily="34" charset="0"/>
                <a:cs typeface="Arial" panose="020B0604020202020204" pitchFamily="34" charset="0"/>
              </a:rPr>
              <a:t>m</a:t>
            </a:r>
            <a:r>
              <a:rPr lang="vi-VN" sz="1800" b="1" i="1" dirty="0">
                <a:effectLst/>
              </a:rPr>
              <a:t>arker ~ elapsed_years × </a:t>
            </a:r>
            <a:r>
              <a:rPr lang="en-US" sz="1800" b="1" i="1" dirty="0">
                <a:effectLst/>
                <a:latin typeface="Arial" panose="020B0604020202020204" pitchFamily="34" charset="0"/>
                <a:cs typeface="Arial" panose="020B0604020202020204" pitchFamily="34" charset="0"/>
              </a:rPr>
              <a:t>groups</a:t>
            </a:r>
            <a:r>
              <a:rPr lang="en-US" sz="1800" b="1" i="1" dirty="0">
                <a:effectLst/>
              </a:rPr>
              <a:t> </a:t>
            </a:r>
            <a:r>
              <a:rPr lang="vi-VN" sz="1800" b="1" i="1" dirty="0">
                <a:effectLst/>
              </a:rPr>
              <a:t>+ AGE + SEX + EDUYR + (1 + elapsed_years | USUBJID)</a:t>
            </a:r>
          </a:p>
          <a:p>
            <a:pPr marL="285750" indent="-285750" algn="l">
              <a:lnSpc>
                <a:spcPct val="150000"/>
              </a:lnSpc>
              <a:buFont typeface="Arial" panose="020B0604020202020204" pitchFamily="34" charset="0"/>
              <a:buChar char="•"/>
            </a:pPr>
            <a:r>
              <a:rPr lang="vi-VN" sz="1800" b="0" i="0" dirty="0">
                <a:effectLst/>
              </a:rPr>
              <a:t>Fitted using lmerTest::lmer() for all bioimpedance/cognitive markers</a:t>
            </a:r>
          </a:p>
          <a:p>
            <a:pPr marL="285750" indent="-285750" algn="l">
              <a:lnSpc>
                <a:spcPct val="150000"/>
              </a:lnSpc>
              <a:buFont typeface="Arial" panose="020B0604020202020204" pitchFamily="34" charset="0"/>
              <a:buChar char="•"/>
            </a:pPr>
            <a:r>
              <a:rPr lang="vi-VN" sz="1800" b="0" i="0" dirty="0">
                <a:effectLst/>
              </a:rPr>
              <a:t>Random intercepts + random slopes per subject to capture individual heterogeneity</a:t>
            </a:r>
          </a:p>
          <a:p>
            <a:pPr algn="l">
              <a:lnSpc>
                <a:spcPct val="150000"/>
              </a:lnSpc>
              <a:buNone/>
            </a:pPr>
            <a:r>
              <a:rPr lang="vi-VN" sz="1800" b="1" i="0" dirty="0">
                <a:effectLst/>
              </a:rPr>
              <a:t>Statistical Inference Strategy</a:t>
            </a:r>
          </a:p>
          <a:p>
            <a:pPr marL="285750" indent="-285750" algn="l">
              <a:lnSpc>
                <a:spcPct val="150000"/>
              </a:lnSpc>
              <a:buFont typeface="Arial" panose="020B0604020202020204" pitchFamily="34" charset="0"/>
              <a:buChar char="•"/>
            </a:pPr>
            <a:r>
              <a:rPr lang="vi-VN" sz="1800" b="0" i="0" dirty="0">
                <a:effectLst/>
              </a:rPr>
              <a:t>Primary test:</a:t>
            </a:r>
            <a:r>
              <a:rPr lang="vi-VN" sz="1800" b="1" i="1" dirty="0">
                <a:effectLst/>
              </a:rPr>
              <a:t> Likelihood Ratio Test </a:t>
            </a:r>
            <a:r>
              <a:rPr lang="vi-VN" sz="1800" b="0" i="0" dirty="0">
                <a:effectLst/>
              </a:rPr>
              <a:t>(LRT) comparing full vs reduced models (no interaction term)</a:t>
            </a:r>
          </a:p>
          <a:p>
            <a:pPr marL="285750" indent="-285750" algn="l">
              <a:lnSpc>
                <a:spcPct val="150000"/>
              </a:lnSpc>
              <a:buFont typeface="Arial" panose="020B0604020202020204" pitchFamily="34" charset="0"/>
              <a:buChar char="•"/>
            </a:pPr>
            <a:r>
              <a:rPr lang="vi-VN" sz="1800" b="0" i="0" dirty="0">
                <a:effectLst/>
              </a:rPr>
              <a:t>Secondary:</a:t>
            </a:r>
            <a:r>
              <a:rPr lang="vi-VN" sz="1800" b="1" i="1" dirty="0">
                <a:effectLst/>
              </a:rPr>
              <a:t> Wald test </a:t>
            </a:r>
            <a:r>
              <a:rPr lang="vi-VN" sz="1800" b="0" i="0" dirty="0">
                <a:effectLst/>
              </a:rPr>
              <a:t>for interaction coefficients (descriptive)</a:t>
            </a:r>
          </a:p>
          <a:p>
            <a:pPr marL="285750" indent="-285750" algn="l">
              <a:lnSpc>
                <a:spcPct val="150000"/>
              </a:lnSpc>
              <a:buFont typeface="Arial" panose="020B0604020202020204" pitchFamily="34" charset="0"/>
              <a:buChar char="•"/>
            </a:pPr>
            <a:r>
              <a:rPr lang="vi-VN" sz="1800" b="0" i="0" dirty="0">
                <a:effectLst/>
              </a:rPr>
              <a:t>Effect size: Cohen's d from standardized slope differences</a:t>
            </a:r>
          </a:p>
          <a:p>
            <a:pPr marL="285750" indent="-285750" algn="l">
              <a:lnSpc>
                <a:spcPct val="150000"/>
              </a:lnSpc>
              <a:buFont typeface="Arial" panose="020B0604020202020204" pitchFamily="34" charset="0"/>
              <a:buChar char="•"/>
            </a:pPr>
            <a:r>
              <a:rPr lang="vi-VN" sz="1800" b="0" i="0" dirty="0">
                <a:effectLst/>
              </a:rPr>
              <a:t>Reporting: Annual slopes per group, 95% CI, both LRT and Wald p-values</a:t>
            </a:r>
          </a:p>
          <a:p>
            <a:pPr algn="l">
              <a:lnSpc>
                <a:spcPct val="150000"/>
              </a:lnSpc>
              <a:buNone/>
            </a:pPr>
            <a:r>
              <a:rPr lang="vi-VN" sz="1800" b="1" i="0" dirty="0">
                <a:effectLst/>
              </a:rPr>
              <a:t>Model Diagnostics</a:t>
            </a:r>
          </a:p>
          <a:p>
            <a:pPr marL="285750" indent="-285750" algn="l">
              <a:lnSpc>
                <a:spcPct val="150000"/>
              </a:lnSpc>
              <a:buFont typeface="Arial" panose="020B0604020202020204" pitchFamily="34" charset="0"/>
              <a:buChar char="•"/>
            </a:pPr>
            <a:r>
              <a:rPr lang="vi-VN" sz="1800" b="0" i="0" dirty="0">
                <a:effectLst/>
              </a:rPr>
              <a:t>Residual diagnostics: QQ plots and fitted vs residuals checked</a:t>
            </a:r>
          </a:p>
          <a:p>
            <a:pPr marL="285750" indent="-285750" algn="l">
              <a:lnSpc>
                <a:spcPct val="150000"/>
              </a:lnSpc>
              <a:buFont typeface="Arial" panose="020B0604020202020204" pitchFamily="34" charset="0"/>
              <a:buChar char="•"/>
            </a:pPr>
            <a:r>
              <a:rPr lang="en-US" altLang="ko-KR" sz="1800" b="0" i="0" dirty="0">
                <a:effectLst/>
                <a:latin typeface="Arial" panose="020B0604020202020204" pitchFamily="34" charset="0"/>
                <a:cs typeface="Arial" panose="020B0604020202020204" pitchFamily="34" charset="0"/>
              </a:rPr>
              <a:t>AIC (Akaike Information Criterion) &amp; BIC (Bayesian Information Criterion)</a:t>
            </a:r>
            <a:r>
              <a:rPr lang="vi-VN" sz="1800" b="0" i="0" dirty="0">
                <a:effectLst/>
                <a:latin typeface="Arial" panose="020B0604020202020204" pitchFamily="34" charset="0"/>
                <a:cs typeface="Arial" panose="020B0604020202020204" pitchFamily="34" charset="0"/>
              </a:rPr>
              <a:t>, </a:t>
            </a:r>
            <a:r>
              <a:rPr lang="vi-VN" sz="1800" b="0" i="0" dirty="0">
                <a:effectLst/>
              </a:rPr>
              <a:t>marginal/conditional R² reported in full analysis</a:t>
            </a:r>
          </a:p>
        </p:txBody>
      </p:sp>
      <p:sp>
        <p:nvSpPr>
          <p:cNvPr id="6" name="TextBox 5">
            <a:extLst>
              <a:ext uri="{FF2B5EF4-FFF2-40B4-BE49-F238E27FC236}">
                <a16:creationId xmlns:a16="http://schemas.microsoft.com/office/drawing/2014/main" id="{61A6C5A2-04FA-49C0-0C3D-9682AF28B5E4}"/>
              </a:ext>
            </a:extLst>
          </p:cNvPr>
          <p:cNvSpPr txBox="1"/>
          <p:nvPr/>
        </p:nvSpPr>
        <p:spPr>
          <a:xfrm>
            <a:off x="893416" y="252239"/>
            <a:ext cx="7920879" cy="400110"/>
          </a:xfrm>
          <a:prstGeom prst="rect">
            <a:avLst/>
          </a:prstGeom>
          <a:noFill/>
        </p:spPr>
        <p:txBody>
          <a:bodyPr wrap="square">
            <a:spAutoFit/>
          </a:bodyPr>
          <a:lstStyle/>
          <a:p>
            <a:r>
              <a:rPr lang="vi-VN" b="1" dirty="0"/>
              <a:t>LME Methods Overview</a:t>
            </a:r>
            <a:endParaRPr lang="en-US" b="1" dirty="0"/>
          </a:p>
        </p:txBody>
      </p:sp>
    </p:spTree>
    <p:extLst>
      <p:ext uri="{BB962C8B-B14F-4D97-AF65-F5344CB8AC3E}">
        <p14:creationId xmlns:p14="http://schemas.microsoft.com/office/powerpoint/2010/main" val="2265757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0BDED-A836-DE08-485A-B3BC580A5FF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7A63223-7466-5232-B910-3106D7E3307F}"/>
              </a:ext>
            </a:extLst>
          </p:cNvPr>
          <p:cNvSpPr txBox="1"/>
          <p:nvPr/>
        </p:nvSpPr>
        <p:spPr>
          <a:xfrm>
            <a:off x="893416" y="252239"/>
            <a:ext cx="7920879" cy="503792"/>
          </a:xfrm>
          <a:prstGeom prst="rect">
            <a:avLst/>
          </a:prstGeom>
          <a:noFill/>
        </p:spPr>
        <p:txBody>
          <a:bodyPr wrap="square">
            <a:spAutoFit/>
          </a:bodyPr>
          <a:lstStyle/>
          <a:p>
            <a:pPr>
              <a:lnSpc>
                <a:spcPct val="150000"/>
              </a:lnSpc>
            </a:pPr>
            <a:r>
              <a:rPr lang="en-US" b="1" dirty="0"/>
              <a:t>LME summary: Older results</a:t>
            </a:r>
            <a:endParaRPr lang="vi-VN" b="1" dirty="0"/>
          </a:p>
        </p:txBody>
      </p:sp>
      <p:pic>
        <p:nvPicPr>
          <p:cNvPr id="3" name="그림 2">
            <a:extLst>
              <a:ext uri="{FF2B5EF4-FFF2-40B4-BE49-F238E27FC236}">
                <a16:creationId xmlns:a16="http://schemas.microsoft.com/office/drawing/2014/main" id="{1B43EFC1-D8D4-19EF-E465-31AD42D6D259}"/>
              </a:ext>
            </a:extLst>
          </p:cNvPr>
          <p:cNvPicPr>
            <a:picLocks noChangeAspect="1"/>
          </p:cNvPicPr>
          <p:nvPr/>
        </p:nvPicPr>
        <p:blipFill>
          <a:blip r:embed="rId3"/>
          <a:stretch>
            <a:fillRect/>
          </a:stretch>
        </p:blipFill>
        <p:spPr>
          <a:xfrm>
            <a:off x="222389" y="5531"/>
            <a:ext cx="10248621" cy="7562404"/>
          </a:xfrm>
          <a:prstGeom prst="rect">
            <a:avLst/>
          </a:prstGeom>
        </p:spPr>
      </p:pic>
    </p:spTree>
    <p:extLst>
      <p:ext uri="{BB962C8B-B14F-4D97-AF65-F5344CB8AC3E}">
        <p14:creationId xmlns:p14="http://schemas.microsoft.com/office/powerpoint/2010/main" val="2030557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2A0CD-0E34-89A4-21BC-97A55EF3739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C29F6C2-8DBD-E2DE-75B8-AAB4F197E86F}"/>
              </a:ext>
            </a:extLst>
          </p:cNvPr>
          <p:cNvSpPr txBox="1"/>
          <p:nvPr/>
        </p:nvSpPr>
        <p:spPr>
          <a:xfrm>
            <a:off x="893416" y="252239"/>
            <a:ext cx="7920879" cy="496996"/>
          </a:xfrm>
          <a:prstGeom prst="rect">
            <a:avLst/>
          </a:prstGeom>
          <a:noFill/>
        </p:spPr>
        <p:txBody>
          <a:bodyPr wrap="square">
            <a:spAutoFit/>
          </a:bodyPr>
          <a:lstStyle/>
          <a:p>
            <a:pPr>
              <a:lnSpc>
                <a:spcPct val="150000"/>
              </a:lnSpc>
            </a:pPr>
            <a:r>
              <a:rPr lang="vi-VN" b="1" dirty="0"/>
              <a:t>Linear Mixed-Effects Modeling</a:t>
            </a:r>
          </a:p>
        </p:txBody>
      </p:sp>
      <p:pic>
        <p:nvPicPr>
          <p:cNvPr id="4" name="그림 3">
            <a:extLst>
              <a:ext uri="{FF2B5EF4-FFF2-40B4-BE49-F238E27FC236}">
                <a16:creationId xmlns:a16="http://schemas.microsoft.com/office/drawing/2014/main" id="{B6D95957-7554-C917-A99B-28F2F98E7A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2607" y="71742"/>
            <a:ext cx="5030109" cy="3592935"/>
          </a:xfrm>
          <a:prstGeom prst="rect">
            <a:avLst/>
          </a:prstGeom>
        </p:spPr>
      </p:pic>
      <p:pic>
        <p:nvPicPr>
          <p:cNvPr id="8" name="그림 7">
            <a:extLst>
              <a:ext uri="{FF2B5EF4-FFF2-40B4-BE49-F238E27FC236}">
                <a16:creationId xmlns:a16="http://schemas.microsoft.com/office/drawing/2014/main" id="{D1802FDE-1B96-3001-A406-DEB768C76D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57151" y="71742"/>
            <a:ext cx="5163642" cy="3688316"/>
          </a:xfrm>
          <a:prstGeom prst="rect">
            <a:avLst/>
          </a:prstGeom>
        </p:spPr>
      </p:pic>
      <p:pic>
        <p:nvPicPr>
          <p:cNvPr id="12" name="그림 11">
            <a:extLst>
              <a:ext uri="{FF2B5EF4-FFF2-40B4-BE49-F238E27FC236}">
                <a16:creationId xmlns:a16="http://schemas.microsoft.com/office/drawing/2014/main" id="{DF6C91C3-B514-E38C-35CE-62E09CE354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5743" y="3664677"/>
            <a:ext cx="5218922" cy="3727801"/>
          </a:xfrm>
          <a:prstGeom prst="rect">
            <a:avLst/>
          </a:prstGeom>
        </p:spPr>
      </p:pic>
      <p:pic>
        <p:nvPicPr>
          <p:cNvPr id="15" name="그림 14">
            <a:extLst>
              <a:ext uri="{FF2B5EF4-FFF2-40B4-BE49-F238E27FC236}">
                <a16:creationId xmlns:a16="http://schemas.microsoft.com/office/drawing/2014/main" id="{B43F1346-79FC-5538-EE0C-8790DF3100E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74014" y="3664677"/>
            <a:ext cx="5163643" cy="3688316"/>
          </a:xfrm>
          <a:prstGeom prst="rect">
            <a:avLst/>
          </a:prstGeom>
        </p:spPr>
      </p:pic>
    </p:spTree>
    <p:extLst>
      <p:ext uri="{BB962C8B-B14F-4D97-AF65-F5344CB8AC3E}">
        <p14:creationId xmlns:p14="http://schemas.microsoft.com/office/powerpoint/2010/main" val="4245754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81EC0-C2C9-722C-49EC-83821F37E67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3D21219-169D-C19D-875F-79053AB43AED}"/>
              </a:ext>
            </a:extLst>
          </p:cNvPr>
          <p:cNvSpPr txBox="1"/>
          <p:nvPr/>
        </p:nvSpPr>
        <p:spPr>
          <a:xfrm>
            <a:off x="893416" y="252239"/>
            <a:ext cx="7920879" cy="496996"/>
          </a:xfrm>
          <a:prstGeom prst="rect">
            <a:avLst/>
          </a:prstGeom>
          <a:noFill/>
        </p:spPr>
        <p:txBody>
          <a:bodyPr wrap="square">
            <a:spAutoFit/>
          </a:bodyPr>
          <a:lstStyle/>
          <a:p>
            <a:pPr>
              <a:lnSpc>
                <a:spcPct val="150000"/>
              </a:lnSpc>
            </a:pPr>
            <a:r>
              <a:rPr lang="vi-VN" b="1" dirty="0"/>
              <a:t>Linear Mixed-Effects Modeling</a:t>
            </a:r>
          </a:p>
        </p:txBody>
      </p:sp>
      <p:pic>
        <p:nvPicPr>
          <p:cNvPr id="13" name="그림 12">
            <a:extLst>
              <a:ext uri="{FF2B5EF4-FFF2-40B4-BE49-F238E27FC236}">
                <a16:creationId xmlns:a16="http://schemas.microsoft.com/office/drawing/2014/main" id="{5FA36672-A54F-B4A2-192F-3E368E06F7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833" y="3581081"/>
            <a:ext cx="5184741" cy="3703386"/>
          </a:xfrm>
          <a:prstGeom prst="rect">
            <a:avLst/>
          </a:prstGeom>
        </p:spPr>
      </p:pic>
      <p:pic>
        <p:nvPicPr>
          <p:cNvPr id="30" name="그림 29">
            <a:extLst>
              <a:ext uri="{FF2B5EF4-FFF2-40B4-BE49-F238E27FC236}">
                <a16:creationId xmlns:a16="http://schemas.microsoft.com/office/drawing/2014/main" id="{D53D032A-6342-707C-5AB3-E3B8E03A7F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11828" y="3739911"/>
            <a:ext cx="5039541" cy="3599672"/>
          </a:xfrm>
          <a:prstGeom prst="rect">
            <a:avLst/>
          </a:prstGeom>
        </p:spPr>
      </p:pic>
      <p:pic>
        <p:nvPicPr>
          <p:cNvPr id="32" name="그림 31">
            <a:extLst>
              <a:ext uri="{FF2B5EF4-FFF2-40B4-BE49-F238E27FC236}">
                <a16:creationId xmlns:a16="http://schemas.microsoft.com/office/drawing/2014/main" id="{D20C92E5-3B86-7512-E2A6-52C39F3D38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3133" y="76342"/>
            <a:ext cx="4977543" cy="3555388"/>
          </a:xfrm>
          <a:prstGeom prst="rect">
            <a:avLst/>
          </a:prstGeom>
        </p:spPr>
      </p:pic>
      <p:pic>
        <p:nvPicPr>
          <p:cNvPr id="34" name="그림 33">
            <a:extLst>
              <a:ext uri="{FF2B5EF4-FFF2-40B4-BE49-F238E27FC236}">
                <a16:creationId xmlns:a16="http://schemas.microsoft.com/office/drawing/2014/main" id="{62CF0647-6576-DA57-DE27-6A96DAE6534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94078" y="54200"/>
            <a:ext cx="5039541" cy="3599672"/>
          </a:xfrm>
          <a:prstGeom prst="rect">
            <a:avLst/>
          </a:prstGeom>
        </p:spPr>
      </p:pic>
    </p:spTree>
    <p:extLst>
      <p:ext uri="{BB962C8B-B14F-4D97-AF65-F5344CB8AC3E}">
        <p14:creationId xmlns:p14="http://schemas.microsoft.com/office/powerpoint/2010/main" val="1619776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F4C5D-57E0-4966-600D-54719DD0361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1D615AD-5618-BF97-9F4B-749FC9797CF7}"/>
              </a:ext>
            </a:extLst>
          </p:cNvPr>
          <p:cNvSpPr txBox="1"/>
          <p:nvPr/>
        </p:nvSpPr>
        <p:spPr>
          <a:xfrm>
            <a:off x="893416" y="252239"/>
            <a:ext cx="7920879" cy="496996"/>
          </a:xfrm>
          <a:prstGeom prst="rect">
            <a:avLst/>
          </a:prstGeom>
          <a:noFill/>
        </p:spPr>
        <p:txBody>
          <a:bodyPr wrap="square">
            <a:spAutoFit/>
          </a:bodyPr>
          <a:lstStyle/>
          <a:p>
            <a:pPr>
              <a:lnSpc>
                <a:spcPct val="150000"/>
              </a:lnSpc>
            </a:pPr>
            <a:r>
              <a:rPr lang="vi-VN" b="1" dirty="0"/>
              <a:t>Linear Mixed-Effects Modeling</a:t>
            </a:r>
          </a:p>
        </p:txBody>
      </p:sp>
      <p:pic>
        <p:nvPicPr>
          <p:cNvPr id="4" name="그림 3">
            <a:extLst>
              <a:ext uri="{FF2B5EF4-FFF2-40B4-BE49-F238E27FC236}">
                <a16:creationId xmlns:a16="http://schemas.microsoft.com/office/drawing/2014/main" id="{07D69AF3-A93E-3D71-FB58-4A742B2499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6938" y="3605756"/>
            <a:ext cx="5434673" cy="3881909"/>
          </a:xfrm>
          <a:prstGeom prst="rect">
            <a:avLst/>
          </a:prstGeom>
        </p:spPr>
      </p:pic>
      <p:pic>
        <p:nvPicPr>
          <p:cNvPr id="8" name="그림 7">
            <a:extLst>
              <a:ext uri="{FF2B5EF4-FFF2-40B4-BE49-F238E27FC236}">
                <a16:creationId xmlns:a16="http://schemas.microsoft.com/office/drawing/2014/main" id="{D4028156-DC6F-13F0-A177-2BDBB5C8BD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7314" y="3605756"/>
            <a:ext cx="5184576" cy="3703268"/>
          </a:xfrm>
          <a:prstGeom prst="rect">
            <a:avLst/>
          </a:prstGeom>
        </p:spPr>
      </p:pic>
      <p:pic>
        <p:nvPicPr>
          <p:cNvPr id="11" name="그림 10">
            <a:extLst>
              <a:ext uri="{FF2B5EF4-FFF2-40B4-BE49-F238E27FC236}">
                <a16:creationId xmlns:a16="http://schemas.microsoft.com/office/drawing/2014/main" id="{AACDF98C-0969-03BB-256E-333A8D2468A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34732" y="108225"/>
            <a:ext cx="4901354" cy="3500967"/>
          </a:xfrm>
          <a:prstGeom prst="rect">
            <a:avLst/>
          </a:prstGeom>
        </p:spPr>
      </p:pic>
      <p:pic>
        <p:nvPicPr>
          <p:cNvPr id="14" name="그림 13">
            <a:extLst>
              <a:ext uri="{FF2B5EF4-FFF2-40B4-BE49-F238E27FC236}">
                <a16:creationId xmlns:a16="http://schemas.microsoft.com/office/drawing/2014/main" id="{4B684E62-3120-C423-E663-98D86674320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2125" y="108224"/>
            <a:ext cx="4896544" cy="3497531"/>
          </a:xfrm>
          <a:prstGeom prst="rect">
            <a:avLst/>
          </a:prstGeom>
        </p:spPr>
      </p:pic>
    </p:spTree>
    <p:extLst>
      <p:ext uri="{BB962C8B-B14F-4D97-AF65-F5344CB8AC3E}">
        <p14:creationId xmlns:p14="http://schemas.microsoft.com/office/powerpoint/2010/main" val="3145889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0196" y="1404367"/>
            <a:ext cx="8500173" cy="2554545"/>
          </a:xfrm>
          <a:prstGeom prst="rect">
            <a:avLst/>
          </a:prstGeom>
          <a:noFill/>
        </p:spPr>
        <p:txBody>
          <a:bodyPr wrap="square" rtlCol="0">
            <a:spAutoFit/>
          </a:bodyPr>
          <a:lstStyle/>
          <a:p>
            <a:r>
              <a:rPr lang="en-US" altLang="ko-KR" b="0" i="0" dirty="0">
                <a:effectLst/>
                <a:latin typeface="fkGroteskNeue"/>
              </a:rPr>
              <a:t>Across </a:t>
            </a:r>
            <a:r>
              <a:rPr lang="en-US" altLang="ko-KR" b="0" i="0" dirty="0" err="1">
                <a:effectLst/>
                <a:latin typeface="fkGroteskNeue"/>
              </a:rPr>
              <a:t>SW_tr</a:t>
            </a:r>
            <a:r>
              <a:rPr lang="en-US" altLang="ko-KR" b="0" i="0" dirty="0">
                <a:effectLst/>
                <a:latin typeface="fkGroteskNeue"/>
              </a:rPr>
              <a:t>, </a:t>
            </a:r>
            <a:r>
              <a:rPr lang="en-US" altLang="ko-KR" b="0" i="0" dirty="0" err="1">
                <a:effectLst/>
                <a:latin typeface="fkGroteskNeue"/>
              </a:rPr>
              <a:t>SL_tr</a:t>
            </a:r>
            <a:r>
              <a:rPr lang="en-US" altLang="ko-KR" b="0" i="0" dirty="0">
                <a:effectLst/>
                <a:latin typeface="fkGroteskNeue"/>
              </a:rPr>
              <a:t>, </a:t>
            </a:r>
            <a:r>
              <a:rPr lang="en-US" altLang="ko-KR" b="0" i="0" dirty="0" err="1">
                <a:effectLst/>
                <a:latin typeface="fkGroteskNeue"/>
              </a:rPr>
              <a:t>SL_upper</a:t>
            </a:r>
            <a:r>
              <a:rPr lang="en-US" altLang="ko-KR" b="0" i="0" dirty="0">
                <a:effectLst/>
                <a:latin typeface="fkGroteskNeue"/>
              </a:rPr>
              <a:t>, </a:t>
            </a:r>
            <a:r>
              <a:rPr lang="en-US" altLang="ko-KR" b="0" i="0" dirty="0" err="1">
                <a:effectLst/>
                <a:latin typeface="fkGroteskNeue"/>
              </a:rPr>
              <a:t>SW_upper</a:t>
            </a:r>
            <a:r>
              <a:rPr lang="en-US" altLang="ko-KR" b="0" i="0" dirty="0">
                <a:effectLst/>
                <a:latin typeface="fkGroteskNeue"/>
              </a:rPr>
              <a:t>, WHR, AMC, protein, and Xc5_lower, the results tell one clear story. People who are cognitively normal at baseline but later develop MCI show a different pattern over time: they steadily lose muscle (lean mass), muscle water, arm muscle size, protein stores, and lower-limb cell quality faster than those who stay normal. This looks like a whole‑body “wasting” or frailty process that starts before MCI is diagnosed, suggesting that early cognitive problems go hand in hand with gradual, widespread decline in body composition, not just changes in one area like the arms or legs.</a:t>
            </a:r>
            <a:endParaRPr lang="en-US" altLang="ko-KR" b="0" i="0" dirty="0">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EE9C6B8-9628-9EDA-96BB-0B01CE6BE021}"/>
              </a:ext>
            </a:extLst>
          </p:cNvPr>
          <p:cNvSpPr txBox="1"/>
          <p:nvPr/>
        </p:nvSpPr>
        <p:spPr>
          <a:xfrm>
            <a:off x="738188" y="252239"/>
            <a:ext cx="6984776" cy="400110"/>
          </a:xfrm>
          <a:prstGeom prst="rect">
            <a:avLst/>
          </a:prstGeom>
          <a:noFill/>
        </p:spPr>
        <p:txBody>
          <a:bodyPr wrap="square">
            <a:spAutoFit/>
          </a:bodyPr>
          <a:lstStyle/>
          <a:p>
            <a:r>
              <a:rPr lang="en-US" altLang="ko-KR" b="1" dirty="0">
                <a:latin typeface="fkGroteskNeue"/>
              </a:rPr>
              <a:t>INITIAL CONCLUSION</a:t>
            </a:r>
            <a:endParaRPr lang="ko-KR" altLang="en-US" b="1" dirty="0"/>
          </a:p>
        </p:txBody>
      </p:sp>
    </p:spTree>
    <p:extLst>
      <p:ext uri="{BB962C8B-B14F-4D97-AF65-F5344CB8AC3E}">
        <p14:creationId xmlns:p14="http://schemas.microsoft.com/office/powerpoint/2010/main" val="4219331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6AED-6A45-E7BE-2003-BF8FDDF35E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706892-5FA3-1824-4A9D-54E9155358FD}"/>
              </a:ext>
            </a:extLst>
          </p:cNvPr>
          <p:cNvSpPr txBox="1"/>
          <p:nvPr/>
        </p:nvSpPr>
        <p:spPr>
          <a:xfrm>
            <a:off x="522164" y="252239"/>
            <a:ext cx="6984776" cy="400110"/>
          </a:xfrm>
          <a:prstGeom prst="rect">
            <a:avLst/>
          </a:prstGeom>
          <a:noFill/>
        </p:spPr>
        <p:txBody>
          <a:bodyPr wrap="square">
            <a:spAutoFit/>
          </a:bodyPr>
          <a:lstStyle/>
          <a:p>
            <a:r>
              <a:rPr lang="en-US" altLang="ko-KR" b="1" dirty="0">
                <a:latin typeface="fkGroteskNeue"/>
              </a:rPr>
              <a:t>Next Step</a:t>
            </a:r>
            <a:endParaRPr lang="ko-KR" altLang="en-US" b="1" dirty="0"/>
          </a:p>
        </p:txBody>
      </p:sp>
      <p:sp>
        <p:nvSpPr>
          <p:cNvPr id="5" name="TextBox 4">
            <a:extLst>
              <a:ext uri="{FF2B5EF4-FFF2-40B4-BE49-F238E27FC236}">
                <a16:creationId xmlns:a16="http://schemas.microsoft.com/office/drawing/2014/main" id="{52044488-F075-D947-C337-3C4216241FF4}"/>
              </a:ext>
            </a:extLst>
          </p:cNvPr>
          <p:cNvSpPr txBox="1"/>
          <p:nvPr/>
        </p:nvSpPr>
        <p:spPr>
          <a:xfrm>
            <a:off x="1170236" y="1188343"/>
            <a:ext cx="6984776" cy="1427122"/>
          </a:xfrm>
          <a:prstGeom prst="rect">
            <a:avLst/>
          </a:prstGeom>
          <a:noFill/>
        </p:spPr>
        <p:txBody>
          <a:bodyPr wrap="square">
            <a:spAutoFit/>
          </a:bodyPr>
          <a:lstStyle/>
          <a:p>
            <a:pPr marL="457200" indent="-457200">
              <a:lnSpc>
                <a:spcPct val="150000"/>
              </a:lnSpc>
              <a:buAutoNum type="arabicPeriod"/>
            </a:pPr>
            <a:r>
              <a:rPr lang="en-US" altLang="ko-KR" b="1" i="0" dirty="0">
                <a:effectLst/>
                <a:latin typeface="berkeleyMono"/>
              </a:rPr>
              <a:t>Test on other potential bioimpedance measures. </a:t>
            </a:r>
          </a:p>
          <a:p>
            <a:pPr marL="457200" indent="-457200">
              <a:lnSpc>
                <a:spcPct val="150000"/>
              </a:lnSpc>
              <a:buAutoNum type="arabicPeriod"/>
            </a:pPr>
            <a:r>
              <a:rPr lang="en-US" altLang="ko-KR" b="0" i="0" dirty="0">
                <a:effectLst/>
                <a:latin typeface="berkeleyMono"/>
              </a:rPr>
              <a:t>Research on the two groups: </a:t>
            </a:r>
            <a:r>
              <a:rPr lang="en-US" altLang="ko-KR" b="0" i="0" dirty="0" err="1">
                <a:effectLst/>
                <a:latin typeface="berkeleyMono"/>
              </a:rPr>
              <a:t>StableMCI</a:t>
            </a:r>
            <a:r>
              <a:rPr lang="en-US" altLang="ko-KR" b="0" i="0" dirty="0">
                <a:effectLst/>
                <a:latin typeface="berkeleyMono"/>
              </a:rPr>
              <a:t> and </a:t>
            </a:r>
            <a:r>
              <a:rPr lang="en-US" altLang="ko-KR" b="0" i="0" dirty="0" err="1">
                <a:effectLst/>
                <a:latin typeface="berkeleyMono"/>
              </a:rPr>
              <a:t>MCItransitCN</a:t>
            </a:r>
            <a:r>
              <a:rPr lang="en-US" altLang="ko-KR" b="0" i="0" dirty="0">
                <a:effectLst/>
                <a:latin typeface="berkeleyMono"/>
              </a:rPr>
              <a:t>.</a:t>
            </a:r>
          </a:p>
          <a:p>
            <a:pPr marL="457200" indent="-457200">
              <a:lnSpc>
                <a:spcPct val="150000"/>
              </a:lnSpc>
              <a:buAutoNum type="arabicPeriod"/>
            </a:pPr>
            <a:r>
              <a:rPr lang="en-US" altLang="ko-KR" b="0" i="0" dirty="0">
                <a:effectLst/>
                <a:latin typeface="berkeleyMono"/>
              </a:rPr>
              <a:t>Research on the groups Cold- Heat Pattern</a:t>
            </a:r>
            <a:endParaRPr lang="ko-KR" altLang="en-US" dirty="0"/>
          </a:p>
        </p:txBody>
      </p:sp>
    </p:spTree>
    <p:extLst>
      <p:ext uri="{BB962C8B-B14F-4D97-AF65-F5344CB8AC3E}">
        <p14:creationId xmlns:p14="http://schemas.microsoft.com/office/powerpoint/2010/main" val="2279886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74734" y="2700511"/>
            <a:ext cx="8215370" cy="523220"/>
          </a:xfrm>
          <a:prstGeom prst="rect">
            <a:avLst/>
          </a:prstGeom>
          <a:noFill/>
        </p:spPr>
        <p:txBody>
          <a:bodyPr wrap="square" rtlCol="0">
            <a:spAutoFit/>
          </a:bodyPr>
          <a:lstStyle/>
          <a:p>
            <a:pPr algn="ctr"/>
            <a:r>
              <a:rPr lang="en-US" altLang="ko-KR" sz="2800" b="1" i="0" dirty="0">
                <a:solidFill>
                  <a:schemeClr val="tx2"/>
                </a:solidFill>
                <a:effectLst/>
                <a:latin typeface="fkGrotesk"/>
              </a:rPr>
              <a:t>THANK YOU FOR YOUR ATTENTION</a:t>
            </a:r>
          </a:p>
        </p:txBody>
      </p:sp>
    </p:spTree>
    <p:extLst>
      <p:ext uri="{BB962C8B-B14F-4D97-AF65-F5344CB8AC3E}">
        <p14:creationId xmlns:p14="http://schemas.microsoft.com/office/powerpoint/2010/main" val="2975736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6AED-6A45-E7BE-2003-BF8FDDF35ED1}"/>
            </a:ext>
          </a:extLst>
        </p:cNvPr>
        <p:cNvGrpSpPr/>
        <p:nvPr/>
      </p:nvGrpSpPr>
      <p:grpSpPr>
        <a:xfrm>
          <a:off x="0" y="0"/>
          <a:ext cx="0" cy="0"/>
          <a:chOff x="0" y="0"/>
          <a:chExt cx="0" cy="0"/>
        </a:xfrm>
      </p:grpSpPr>
      <p:graphicFrame>
        <p:nvGraphicFramePr>
          <p:cNvPr id="2" name="표 1">
            <a:extLst>
              <a:ext uri="{FF2B5EF4-FFF2-40B4-BE49-F238E27FC236}">
                <a16:creationId xmlns:a16="http://schemas.microsoft.com/office/drawing/2014/main" id="{D09CB957-3F8B-9CDB-EDE5-B0D14CD0331C}"/>
              </a:ext>
            </a:extLst>
          </p:cNvPr>
          <p:cNvGraphicFramePr>
            <a:graphicFrameLocks noGrp="1"/>
          </p:cNvGraphicFramePr>
          <p:nvPr>
            <p:extLst>
              <p:ext uri="{D42A27DB-BD31-4B8C-83A1-F6EECF244321}">
                <p14:modId xmlns:p14="http://schemas.microsoft.com/office/powerpoint/2010/main" val="1653216071"/>
              </p:ext>
            </p:extLst>
          </p:nvPr>
        </p:nvGraphicFramePr>
        <p:xfrm>
          <a:off x="234132" y="180231"/>
          <a:ext cx="10225134" cy="7339360"/>
        </p:xfrm>
        <a:graphic>
          <a:graphicData uri="http://schemas.openxmlformats.org/drawingml/2006/table">
            <a:tbl>
              <a:tblPr>
                <a:tableStyleId>{69CF1AB2-1976-4502-BF36-3FF5EA218861}</a:tableStyleId>
              </a:tblPr>
              <a:tblGrid>
                <a:gridCol w="1584176">
                  <a:extLst>
                    <a:ext uri="{9D8B030D-6E8A-4147-A177-3AD203B41FA5}">
                      <a16:colId xmlns:a16="http://schemas.microsoft.com/office/drawing/2014/main" val="262343364"/>
                    </a:ext>
                  </a:extLst>
                </a:gridCol>
                <a:gridCol w="360040">
                  <a:extLst>
                    <a:ext uri="{9D8B030D-6E8A-4147-A177-3AD203B41FA5}">
                      <a16:colId xmlns:a16="http://schemas.microsoft.com/office/drawing/2014/main" val="690610146"/>
                    </a:ext>
                  </a:extLst>
                </a:gridCol>
                <a:gridCol w="1368152">
                  <a:extLst>
                    <a:ext uri="{9D8B030D-6E8A-4147-A177-3AD203B41FA5}">
                      <a16:colId xmlns:a16="http://schemas.microsoft.com/office/drawing/2014/main" val="2024937917"/>
                    </a:ext>
                  </a:extLst>
                </a:gridCol>
                <a:gridCol w="1512168">
                  <a:extLst>
                    <a:ext uri="{9D8B030D-6E8A-4147-A177-3AD203B41FA5}">
                      <a16:colId xmlns:a16="http://schemas.microsoft.com/office/drawing/2014/main" val="1419644977"/>
                    </a:ext>
                  </a:extLst>
                </a:gridCol>
                <a:gridCol w="2448272">
                  <a:extLst>
                    <a:ext uri="{9D8B030D-6E8A-4147-A177-3AD203B41FA5}">
                      <a16:colId xmlns:a16="http://schemas.microsoft.com/office/drawing/2014/main" val="849100928"/>
                    </a:ext>
                  </a:extLst>
                </a:gridCol>
                <a:gridCol w="2952326">
                  <a:extLst>
                    <a:ext uri="{9D8B030D-6E8A-4147-A177-3AD203B41FA5}">
                      <a16:colId xmlns:a16="http://schemas.microsoft.com/office/drawing/2014/main" val="2990635801"/>
                    </a:ext>
                  </a:extLst>
                </a:gridCol>
              </a:tblGrid>
              <a:tr h="193555">
                <a:tc>
                  <a:txBody>
                    <a:bodyPr/>
                    <a:lstStyle/>
                    <a:p>
                      <a:pPr marL="0" marR="0" indent="0" algn="just" fontAlgn="base">
                        <a:spcBef>
                          <a:spcPts val="0"/>
                        </a:spcBef>
                        <a:spcAft>
                          <a:spcPts val="800"/>
                        </a:spcAft>
                      </a:pPr>
                      <a:r>
                        <a:rPr lang="en-US" sz="1200" b="0" u="none" strike="noStrike">
                          <a:solidFill>
                            <a:srgbClr val="000000"/>
                          </a:solidFill>
                          <a:effectLst/>
                        </a:rPr>
                        <a:t>Study / Title</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Year</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Subjects &amp; Groups</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Study design</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Materials &amp; methods</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Main results / focus</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extLst>
                  <a:ext uri="{0D108BD9-81ED-4DB2-BD59-A6C34878D82A}">
                    <a16:rowId xmlns:a16="http://schemas.microsoft.com/office/drawing/2014/main" val="3966328694"/>
                  </a:ext>
                </a:extLst>
              </a:tr>
              <a:tr h="1256708">
                <a:tc>
                  <a:txBody>
                    <a:bodyPr/>
                    <a:lstStyle/>
                    <a:p>
                      <a:pPr marL="0" marR="0" indent="0" algn="just" fontAlgn="base">
                        <a:spcBef>
                          <a:spcPts val="0"/>
                        </a:spcBef>
                        <a:spcAft>
                          <a:spcPts val="800"/>
                        </a:spcAft>
                      </a:pPr>
                      <a:r>
                        <a:rPr lang="en-US" sz="1200" b="0" u="none" strike="noStrike" dirty="0">
                          <a:solidFill>
                            <a:srgbClr val="000000"/>
                          </a:solidFill>
                          <a:effectLst/>
                        </a:rPr>
                        <a:t>Doan et al., “Segmental Bioimpedance Variables in Association With Mild Cognitive Impairment” (Frontiers in Nutrition)</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2022</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939 older adults: 673 CN, 266 MCI (community-dwelling, same base cohort as yours)</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Cross-sectional, CN vs MCI</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Multi-frequency segmental BIA (upper/lower extremities + whole body), </a:t>
                      </a:r>
                      <a:r>
                        <a:rPr lang="en-US" sz="1200" b="0" u="none" strike="noStrike" dirty="0" err="1">
                          <a:solidFill>
                            <a:srgbClr val="000000"/>
                          </a:solidFill>
                          <a:effectLst/>
                        </a:rPr>
                        <a:t>neuropsych</a:t>
                      </a:r>
                      <a:r>
                        <a:rPr lang="en-US" sz="1200" b="0" u="none" strike="noStrike" dirty="0">
                          <a:solidFill>
                            <a:srgbClr val="000000"/>
                          </a:solidFill>
                          <a:effectLst/>
                        </a:rPr>
                        <a:t> tests (K-MMSE, SNSB-II); group comparisons; correlations; logistic regression for MCI prevalence, sex-stratified analyses.</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MCI had higher segmental water and ECW/ICW ratios and lower resistance/reactance/phase angle, especially in lower extremities; effects more pronounced in women. Lower-extremity variables proposed as early markers of cognitive impairment.</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extLst>
                  <a:ext uri="{0D108BD9-81ED-4DB2-BD59-A6C34878D82A}">
                    <a16:rowId xmlns:a16="http://schemas.microsoft.com/office/drawing/2014/main" val="625929527"/>
                  </a:ext>
                </a:extLst>
              </a:tr>
              <a:tr h="1498383">
                <a:tc>
                  <a:txBody>
                    <a:bodyPr/>
                    <a:lstStyle/>
                    <a:p>
                      <a:pPr marL="0" marR="0" indent="0" algn="just" fontAlgn="base">
                        <a:spcBef>
                          <a:spcPts val="0"/>
                        </a:spcBef>
                        <a:spcAft>
                          <a:spcPts val="800"/>
                        </a:spcAft>
                      </a:pPr>
                      <a:r>
                        <a:rPr lang="en-US" sz="1200" b="0" u="none" strike="noStrike">
                          <a:solidFill>
                            <a:srgbClr val="000000"/>
                          </a:solidFill>
                          <a:effectLst/>
                        </a:rPr>
                        <a:t>Doan et al., “Reduced body cell mass and functions in lower extremities are associated with mild cognitive impairment and Alzheimer’s dementia” (Scientific Reports)</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2023</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518 older adults with Alzheimer’s continuum: CN, MCI due to AD, AD dementia (subsample of same registry)</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Cross-sectional, 3-group comparison (CN vs MCI-AD vs AD dementia)</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Multi-frequency segmental BIA; focus on body cell mass and segmental muscle function in lower extremities; ANCOVA/linear models across groups; correlations with cognitive scores.</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Progressive reduction in body cell mass and functional indices in lower extremities across CN → MCI → AD; lower-extremity BIA changes strongly linked to AD pathology and cognitive impairment. Emphasizes lower-limb cellular dysfunction as a hallmark of AD-related cognitive decline.</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extLst>
                  <a:ext uri="{0D108BD9-81ED-4DB2-BD59-A6C34878D82A}">
                    <a16:rowId xmlns:a16="http://schemas.microsoft.com/office/drawing/2014/main" val="1094830796"/>
                  </a:ext>
                </a:extLst>
              </a:tr>
              <a:tr h="1326024">
                <a:tc>
                  <a:txBody>
                    <a:bodyPr/>
                    <a:lstStyle/>
                    <a:p>
                      <a:pPr marL="0" marR="0" indent="0" algn="just" fontAlgn="base">
                        <a:spcBef>
                          <a:spcPts val="0"/>
                        </a:spcBef>
                        <a:spcAft>
                          <a:spcPts val="800"/>
                        </a:spcAft>
                      </a:pPr>
                      <a:r>
                        <a:rPr lang="en-US" sz="1200" b="0" u="none" strike="noStrike" dirty="0">
                          <a:solidFill>
                            <a:srgbClr val="000000"/>
                          </a:solidFill>
                          <a:effectLst/>
                        </a:rPr>
                        <a:t>Kim et al., “A screening method for mild cognitive impairment in elderly individuals combining bioimpedance and MMSE” (Frontiers in Aging Neuroscience)</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2024</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539 community-dwelling elders; CN vs MCI</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Cross-sectional diagnostic / prediction study</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Whole-body and segmental BIA; K-MMSE; multi-variable regression and classification models (AUC) combining BIA variables with MMSE to screen for MCI.</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Models combining BIA and MMSE improved MCI screening performance vs MMSE alone; segmental BIA features contributed incremental predictive value. Study focuses on diagnostic utility at one time point, not trajectories.</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extLst>
                  <a:ext uri="{0D108BD9-81ED-4DB2-BD59-A6C34878D82A}">
                    <a16:rowId xmlns:a16="http://schemas.microsoft.com/office/drawing/2014/main" val="632208374"/>
                  </a:ext>
                </a:extLst>
              </a:tr>
              <a:tr h="1456090">
                <a:tc>
                  <a:txBody>
                    <a:bodyPr/>
                    <a:lstStyle/>
                    <a:p>
                      <a:pPr marL="0" marR="0" indent="0" algn="just" fontAlgn="base">
                        <a:spcBef>
                          <a:spcPts val="0"/>
                        </a:spcBef>
                        <a:spcAft>
                          <a:spcPts val="800"/>
                        </a:spcAft>
                      </a:pPr>
                      <a:r>
                        <a:rPr lang="en-US" sz="1200" b="0" u="none" strike="noStrike" dirty="0">
                          <a:solidFill>
                            <a:srgbClr val="000000"/>
                          </a:solidFill>
                          <a:effectLst/>
                        </a:rPr>
                        <a:t>“Whole-Body and Segmental Phase Angles and Cognitive Function in the Older Korean Population” (JMIR Public Health &amp; Surveillance)</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2024</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625 community-dwelling older adults (Busan study)</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Cross-sectional</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Whole-body and segmental phase angles (PhA) via BIA; K-MMSE; multivariable linear regression for associations between PhA (whole, upper, lower limbs) and global and domain-specific cognitive scores.</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Whole-body PhA positively associated with global cognition; lower-limb PhA showed strongest association with cognitive scores; upper-limb PhA associated with specific domains (e.g., orientation). Suggests segmental PhA as non-invasive markers for cognitive screening.</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extLst>
                  <a:ext uri="{0D108BD9-81ED-4DB2-BD59-A6C34878D82A}">
                    <a16:rowId xmlns:a16="http://schemas.microsoft.com/office/drawing/2014/main" val="34326527"/>
                  </a:ext>
                </a:extLst>
              </a:tr>
              <a:tr h="1326024">
                <a:tc>
                  <a:txBody>
                    <a:bodyPr/>
                    <a:lstStyle/>
                    <a:p>
                      <a:pPr marL="0" marR="0" indent="0" algn="just" fontAlgn="base">
                        <a:spcBef>
                          <a:spcPts val="0"/>
                        </a:spcBef>
                        <a:spcAft>
                          <a:spcPts val="800"/>
                        </a:spcAft>
                      </a:pPr>
                      <a:r>
                        <a:rPr lang="en-US" sz="1200" b="0" u="none" strike="noStrike">
                          <a:solidFill>
                            <a:srgbClr val="000000"/>
                          </a:solidFill>
                          <a:effectLst/>
                        </a:rPr>
                        <a:t>Your current longitudinal CN → MCI BIA trajectory study</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Ongoing</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Same registry/cohort as Doan et al.; start with CN; two groups defined by follow-up: </a:t>
                      </a:r>
                      <a:r>
                        <a:rPr lang="en-US" sz="1200" b="0" u="none" strike="noStrike" dirty="0" err="1">
                          <a:solidFill>
                            <a:srgbClr val="000000"/>
                          </a:solidFill>
                          <a:effectLst/>
                        </a:rPr>
                        <a:t>StableCN</a:t>
                      </a:r>
                      <a:r>
                        <a:rPr lang="en-US" sz="1200" b="0" u="none" strike="noStrike" dirty="0">
                          <a:solidFill>
                            <a:srgbClr val="000000"/>
                          </a:solidFill>
                          <a:effectLst/>
                        </a:rPr>
                        <a:t> (remain CN) vs </a:t>
                      </a:r>
                      <a:r>
                        <a:rPr lang="en-US" sz="1200" b="0" u="none" strike="noStrike" dirty="0" err="1">
                          <a:solidFill>
                            <a:srgbClr val="000000"/>
                          </a:solidFill>
                          <a:effectLst/>
                        </a:rPr>
                        <a:t>CNtransitMCI</a:t>
                      </a:r>
                      <a:r>
                        <a:rPr lang="en-US" sz="1200" b="0" u="none" strike="noStrike" dirty="0">
                          <a:solidFill>
                            <a:srgbClr val="000000"/>
                          </a:solidFill>
                          <a:effectLst/>
                        </a:rPr>
                        <a:t> (convert to MCI)</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a:solidFill>
                            <a:srgbClr val="000000"/>
                          </a:solidFill>
                          <a:effectLst/>
                        </a:rPr>
                        <a:t>Longitudinal cohort with repeated BIA and cognitive assessments</a:t>
                      </a:r>
                      <a:endParaRPr lang="en-US" sz="12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Multi-frequency, segmental BIA; anthropometry; cognitive tests (K-MMSE, SNSB-II). For each BIA / anthropometric marker, fit LME: marker ~ </a:t>
                      </a:r>
                      <a:r>
                        <a:rPr lang="en-US" sz="1200" b="0" u="none" strike="noStrike" dirty="0" err="1">
                          <a:solidFill>
                            <a:srgbClr val="000000"/>
                          </a:solidFill>
                          <a:effectLst/>
                        </a:rPr>
                        <a:t>elapsed_years</a:t>
                      </a:r>
                      <a:r>
                        <a:rPr lang="en-US" sz="1200" b="0" u="none" strike="noStrike" dirty="0">
                          <a:solidFill>
                            <a:srgbClr val="000000"/>
                          </a:solidFill>
                          <a:effectLst/>
                        </a:rPr>
                        <a:t> * </a:t>
                      </a:r>
                      <a:r>
                        <a:rPr lang="en-US" sz="1200" b="0" u="none" strike="noStrike" dirty="0" err="1">
                          <a:solidFill>
                            <a:srgbClr val="000000"/>
                          </a:solidFill>
                          <a:effectLst/>
                        </a:rPr>
                        <a:t>Change_Type</a:t>
                      </a:r>
                      <a:r>
                        <a:rPr lang="en-US" sz="1200" b="0" u="none" strike="noStrike" dirty="0">
                          <a:solidFill>
                            <a:srgbClr val="000000"/>
                          </a:solidFill>
                          <a:effectLst/>
                        </a:rPr>
                        <a:t> + AGE + SEX + EDUYR + (1 + </a:t>
                      </a:r>
                      <a:r>
                        <a:rPr lang="en-US" sz="1200" b="0" u="none" strike="noStrike" dirty="0" err="1">
                          <a:solidFill>
                            <a:srgbClr val="000000"/>
                          </a:solidFill>
                          <a:effectLst/>
                        </a:rPr>
                        <a:t>elapsed_years</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tc>
                  <a:txBody>
                    <a:bodyPr/>
                    <a:lstStyle/>
                    <a:p>
                      <a:pPr marL="0" marR="0" indent="0" algn="just" fontAlgn="base">
                        <a:spcBef>
                          <a:spcPts val="0"/>
                        </a:spcBef>
                        <a:spcAft>
                          <a:spcPts val="800"/>
                        </a:spcAft>
                      </a:pPr>
                      <a:r>
                        <a:rPr lang="en-US" sz="1200" b="0" u="none" strike="noStrike" dirty="0">
                          <a:solidFill>
                            <a:srgbClr val="000000"/>
                          </a:solidFill>
                          <a:effectLst/>
                        </a:rPr>
                        <a:t>USUBJID). Use </a:t>
                      </a:r>
                      <a:r>
                        <a:rPr lang="en-US" sz="1200" b="0" u="none" strike="noStrike" dirty="0" err="1">
                          <a:solidFill>
                            <a:srgbClr val="000000"/>
                          </a:solidFill>
                          <a:effectLst/>
                        </a:rPr>
                        <a:t>lmerTest</a:t>
                      </a:r>
                      <a:r>
                        <a:rPr lang="en-US" sz="1200" b="0" u="none" strike="noStrike" dirty="0">
                          <a:solidFill>
                            <a:srgbClr val="000000"/>
                          </a:solidFill>
                          <a:effectLst/>
                        </a:rPr>
                        <a:t>::</a:t>
                      </a:r>
                      <a:r>
                        <a:rPr lang="en-US" sz="1200" b="0" u="none" strike="noStrike" dirty="0" err="1">
                          <a:solidFill>
                            <a:srgbClr val="000000"/>
                          </a:solidFill>
                          <a:effectLst/>
                        </a:rPr>
                        <a:t>lmer</a:t>
                      </a:r>
                      <a:r>
                        <a:rPr lang="en-US" sz="1200" b="0" u="none" strike="noStrike" dirty="0">
                          <a:solidFill>
                            <a:srgbClr val="000000"/>
                          </a:solidFill>
                          <a:effectLst/>
                        </a:rPr>
                        <a:t>(); LRT (full vs reduced without interaction) as primary inference; Wald tests and standardized slope difference (Cohen’s d) for effect size; extensive model diagnostics; export slopes, CIs, p-values, effect sizes, and plots.</a:t>
                      </a:r>
                      <a:endParaRPr lang="en-US" sz="12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2136" marR="2136" marT="2136" marB="2136"/>
                </a:tc>
                <a:extLst>
                  <a:ext uri="{0D108BD9-81ED-4DB2-BD59-A6C34878D82A}">
                    <a16:rowId xmlns:a16="http://schemas.microsoft.com/office/drawing/2014/main" val="3743311317"/>
                  </a:ext>
                </a:extLst>
              </a:tr>
            </a:tbl>
          </a:graphicData>
        </a:graphic>
      </p:graphicFrame>
    </p:spTree>
    <p:extLst>
      <p:ext uri="{BB962C8B-B14F-4D97-AF65-F5344CB8AC3E}">
        <p14:creationId xmlns:p14="http://schemas.microsoft.com/office/powerpoint/2010/main" val="353447956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1463</TotalTime>
  <Words>1418</Words>
  <Application>Microsoft Office PowerPoint</Application>
  <PresentationFormat>사용자 지정</PresentationFormat>
  <Paragraphs>88</Paragraphs>
  <Slides>11</Slides>
  <Notes>11</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11</vt:i4>
      </vt:variant>
    </vt:vector>
  </HeadingPairs>
  <TitlesOfParts>
    <vt:vector size="19" baseType="lpstr">
      <vt:lpstr>berkeleyMono</vt:lpstr>
      <vt:lpstr>fkGrotesk</vt:lpstr>
      <vt:lpstr>fkGroteskNeue</vt:lpstr>
      <vt:lpstr>HY견고딕</vt:lpstr>
      <vt:lpstr>HY중고딕</vt: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XP SP3 FINAL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user</dc:creator>
  <cp:lastModifiedBy>KIOM_USER</cp:lastModifiedBy>
  <cp:revision>67</cp:revision>
  <cp:lastPrinted>2012-01-03T07:03:32Z</cp:lastPrinted>
  <dcterms:created xsi:type="dcterms:W3CDTF">2011-12-29T06:45:05Z</dcterms:created>
  <dcterms:modified xsi:type="dcterms:W3CDTF">2025-11-28T04:56:03Z</dcterms:modified>
</cp:coreProperties>
</file>