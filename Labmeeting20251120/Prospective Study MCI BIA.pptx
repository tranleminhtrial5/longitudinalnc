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73" r:id="rId3"/>
    <p:sldId id="275" r:id="rId4"/>
    <p:sldId id="276" r:id="rId5"/>
    <p:sldId id="277" r:id="rId6"/>
    <p:sldId id="272" r:id="rId7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405"/>
    <a:srgbClr val="E78B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835" autoAdjust="0"/>
  </p:normalViewPr>
  <p:slideViewPr>
    <p:cSldViewPr>
      <p:cViewPr varScale="1">
        <p:scale>
          <a:sx n="90" d="100"/>
          <a:sy n="90" d="100"/>
        </p:scale>
        <p:origin x="1776" y="90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b="0" i="0" dirty="0">
                <a:effectLst/>
                <a:latin typeface="fkGrotesk"/>
              </a:rPr>
              <a:t>Transition Matrix &amp; Trajectory Grouping with </a:t>
            </a:r>
            <a:r>
              <a:rPr lang="en-US" altLang="ko-KR" b="0" i="0" dirty="0">
                <a:effectLst/>
                <a:latin typeface="fkGroteskNeue"/>
              </a:rPr>
              <a:t>Participants with ≥2 longitudinal visits (N=349)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990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b="0" i="0" dirty="0">
                <a:effectLst/>
                <a:latin typeface="fkGrotesk"/>
              </a:rPr>
              <a:t>Transition Matrix &amp; Trajectory Grouping with </a:t>
            </a:r>
            <a:r>
              <a:rPr lang="en-US" altLang="ko-KR" b="0" i="0" dirty="0">
                <a:effectLst/>
                <a:latin typeface="fkGroteskNeue"/>
              </a:rPr>
              <a:t>Participants with ≥2 longitudinal visits (N=349)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127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b="0" i="0" dirty="0">
                <a:effectLst/>
                <a:latin typeface="fkGrotesk"/>
              </a:rPr>
              <a:t>Transition Matrix &amp; Trajectory Grouping with </a:t>
            </a:r>
            <a:r>
              <a:rPr lang="en-US" altLang="ko-KR" b="0" i="0" dirty="0">
                <a:effectLst/>
                <a:latin typeface="fkGroteskNeue"/>
              </a:rPr>
              <a:t>Participants with ≥2 longitudinal visits (N=349)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9694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b="0" i="0" dirty="0">
                <a:effectLst/>
                <a:latin typeface="fkGrotesk"/>
              </a:rPr>
              <a:t>Transition Matrix &amp; Trajectory Grouping with </a:t>
            </a:r>
            <a:r>
              <a:rPr lang="en-US" altLang="ko-KR" b="0" i="0" dirty="0">
                <a:effectLst/>
                <a:latin typeface="fkGroteskNeue"/>
              </a:rPr>
              <a:t>Participants with ≥2 longitudinal visits (N=349)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9986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647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4734" y="2700511"/>
            <a:ext cx="8215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i="0" dirty="0">
                <a:effectLst/>
                <a:latin typeface="fkGrotesk"/>
              </a:rPr>
              <a:t>Longitudinal Bioelectrical Impedance Analysis Distinguishes Cognitive Stability from Early Transition to Mild Cognitive Impairment in Older Adults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5130" y="4140671"/>
            <a:ext cx="5214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altLang="ko-KR" b="1" dirty="0">
                <a:latin typeface="fkGrotesk"/>
              </a:rPr>
              <a:t>Lab Meeting </a:t>
            </a:r>
          </a:p>
          <a:p>
            <a:pPr algn="r"/>
            <a:r>
              <a:rPr lang="en-GB" altLang="ko-KR" sz="2000" i="0" dirty="0">
                <a:effectLst/>
                <a:latin typeface="fkGrotesk"/>
              </a:rPr>
              <a:t>2025.11.07</a:t>
            </a: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74BAC-FB71-DDE8-7515-09A3532D89FA}"/>
              </a:ext>
            </a:extLst>
          </p:cNvPr>
          <p:cNvSpPr txBox="1"/>
          <p:nvPr/>
        </p:nvSpPr>
        <p:spPr>
          <a:xfrm>
            <a:off x="378148" y="252239"/>
            <a:ext cx="6984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 err="1">
                <a:effectLst/>
                <a:latin typeface="fkGroteskNeue"/>
              </a:rPr>
              <a:t>Dataprocessing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EF6272-ABA9-3907-7BD9-064DFD2D3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900" y="4637716"/>
            <a:ext cx="7367169" cy="23936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5E3CDAE-DE07-A526-228B-F0C1B9D6F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316" y="1031313"/>
            <a:ext cx="7303745" cy="23251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6C0396-4E15-0024-EEC6-E93C4EE96342}"/>
              </a:ext>
            </a:extLst>
          </p:cNvPr>
          <p:cNvSpPr txBox="1"/>
          <p:nvPr/>
        </p:nvSpPr>
        <p:spPr>
          <a:xfrm>
            <a:off x="5574371" y="3509192"/>
            <a:ext cx="440203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1500" b="0" i="0" dirty="0">
                <a:effectLst/>
                <a:latin typeface="fkGroteskNeue"/>
              </a:rPr>
              <a:t>+ intermediate converters (6 subjects)</a:t>
            </a:r>
            <a:endParaRPr lang="ko-KR" alt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C7B824-F43A-E2BE-862F-7254F8180437}"/>
              </a:ext>
            </a:extLst>
          </p:cNvPr>
          <p:cNvSpPr txBox="1"/>
          <p:nvPr/>
        </p:nvSpPr>
        <p:spPr>
          <a:xfrm>
            <a:off x="5566302" y="3908334"/>
            <a:ext cx="483358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dirty="0">
                <a:effectLst/>
                <a:latin typeface="fkGroteskNeue"/>
              </a:rPr>
              <a:t>- excluded subjects with &lt;11 months follow-up</a:t>
            </a:r>
            <a:endParaRPr lang="ko-KR" altLang="en-US" sz="1500" dirty="0"/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A8A7F727-A178-AEEE-10AC-996CF09A1836}"/>
              </a:ext>
            </a:extLst>
          </p:cNvPr>
          <p:cNvSpPr/>
          <p:nvPr/>
        </p:nvSpPr>
        <p:spPr>
          <a:xfrm>
            <a:off x="5138675" y="3417295"/>
            <a:ext cx="504056" cy="968394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3F9FB86-B2CD-572F-594F-8F7CFC690AEE}"/>
              </a:ext>
            </a:extLst>
          </p:cNvPr>
          <p:cNvCxnSpPr/>
          <p:nvPr/>
        </p:nvCxnSpPr>
        <p:spPr>
          <a:xfrm>
            <a:off x="1818308" y="2052439"/>
            <a:ext cx="0" cy="5040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D2241E1-E491-BA44-E57A-36B1AD31ABD5}"/>
              </a:ext>
            </a:extLst>
          </p:cNvPr>
          <p:cNvCxnSpPr/>
          <p:nvPr/>
        </p:nvCxnSpPr>
        <p:spPr>
          <a:xfrm>
            <a:off x="1883368" y="5673583"/>
            <a:ext cx="0" cy="5040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16E518D-5094-6563-E009-B5781A6609CF}"/>
              </a:ext>
            </a:extLst>
          </p:cNvPr>
          <p:cNvCxnSpPr>
            <a:cxnSpLocks/>
          </p:cNvCxnSpPr>
          <p:nvPr/>
        </p:nvCxnSpPr>
        <p:spPr>
          <a:xfrm>
            <a:off x="1818308" y="2556495"/>
            <a:ext cx="737575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B125467-6D9A-FDB6-0DDA-73A097BC17B1}"/>
              </a:ext>
            </a:extLst>
          </p:cNvPr>
          <p:cNvCxnSpPr>
            <a:cxnSpLocks/>
          </p:cNvCxnSpPr>
          <p:nvPr/>
        </p:nvCxnSpPr>
        <p:spPr>
          <a:xfrm>
            <a:off x="1818308" y="2052439"/>
            <a:ext cx="737575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4F4DCDF-1F96-512F-971F-AB09BEA66DEB}"/>
              </a:ext>
            </a:extLst>
          </p:cNvPr>
          <p:cNvCxnSpPr/>
          <p:nvPr/>
        </p:nvCxnSpPr>
        <p:spPr>
          <a:xfrm>
            <a:off x="9194061" y="2052439"/>
            <a:ext cx="0" cy="5040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7DBF147-7E1C-8576-B110-23BCFD105EBD}"/>
              </a:ext>
            </a:extLst>
          </p:cNvPr>
          <p:cNvCxnSpPr>
            <a:cxnSpLocks/>
          </p:cNvCxnSpPr>
          <p:nvPr/>
        </p:nvCxnSpPr>
        <p:spPr>
          <a:xfrm>
            <a:off x="1898900" y="6177639"/>
            <a:ext cx="737575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E0703DF-D76D-80F7-7E9A-6ABE98A69610}"/>
              </a:ext>
            </a:extLst>
          </p:cNvPr>
          <p:cNvCxnSpPr>
            <a:cxnSpLocks/>
          </p:cNvCxnSpPr>
          <p:nvPr/>
        </p:nvCxnSpPr>
        <p:spPr>
          <a:xfrm>
            <a:off x="1908061" y="5673583"/>
            <a:ext cx="737575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11A5D27-8F5D-D056-BEA4-3DE1474670A0}"/>
              </a:ext>
            </a:extLst>
          </p:cNvPr>
          <p:cNvCxnSpPr/>
          <p:nvPr/>
        </p:nvCxnSpPr>
        <p:spPr>
          <a:xfrm>
            <a:off x="9283814" y="5673583"/>
            <a:ext cx="0" cy="5040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017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74BAC-FB71-DDE8-7515-09A3532D89FA}"/>
              </a:ext>
            </a:extLst>
          </p:cNvPr>
          <p:cNvSpPr txBox="1"/>
          <p:nvPr/>
        </p:nvSpPr>
        <p:spPr>
          <a:xfrm>
            <a:off x="378148" y="252239"/>
            <a:ext cx="6984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effectLst/>
                <a:latin typeface="fkGroteskNeue"/>
              </a:rPr>
              <a:t>General Overview and Feasibility of Group Options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9358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74BAC-FB71-DDE8-7515-09A3532D89FA}"/>
              </a:ext>
            </a:extLst>
          </p:cNvPr>
          <p:cNvSpPr txBox="1"/>
          <p:nvPr/>
        </p:nvSpPr>
        <p:spPr>
          <a:xfrm>
            <a:off x="378148" y="252239"/>
            <a:ext cx="6984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effectLst/>
                <a:latin typeface="fkGroteskNeue"/>
              </a:rPr>
              <a:t>General Overview and Feasibility of Group Options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4555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74BAC-FB71-DDE8-7515-09A3532D89FA}"/>
              </a:ext>
            </a:extLst>
          </p:cNvPr>
          <p:cNvSpPr txBox="1"/>
          <p:nvPr/>
        </p:nvSpPr>
        <p:spPr>
          <a:xfrm>
            <a:off x="378148" y="252239"/>
            <a:ext cx="6984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effectLst/>
                <a:latin typeface="fkGroteskNeue"/>
              </a:rPr>
              <a:t>General Overview and Feasibility of Group Options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33468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4734" y="2700511"/>
            <a:ext cx="821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i="0" dirty="0">
                <a:solidFill>
                  <a:schemeClr val="tx2"/>
                </a:solidFill>
                <a:effectLst/>
                <a:latin typeface="fkGrotesk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975736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130</Words>
  <Application>Microsoft Office PowerPoint</Application>
  <PresentationFormat>사용자 지정</PresentationFormat>
  <Paragraphs>14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fkGrotesk</vt:lpstr>
      <vt:lpstr>fkGroteskNeue</vt:lpstr>
      <vt:lpstr>HY견고딕</vt:lpstr>
      <vt:lpstr>HY중고딕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KIOM_USER</cp:lastModifiedBy>
  <cp:revision>46</cp:revision>
  <cp:lastPrinted>2012-01-03T07:03:32Z</cp:lastPrinted>
  <dcterms:created xsi:type="dcterms:W3CDTF">2011-12-29T06:45:05Z</dcterms:created>
  <dcterms:modified xsi:type="dcterms:W3CDTF">2025-11-20T09:10:45Z</dcterms:modified>
</cp:coreProperties>
</file>