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73" r:id="rId3"/>
    <p:sldId id="274" r:id="rId4"/>
    <p:sldId id="275" r:id="rId5"/>
    <p:sldId id="276" r:id="rId6"/>
    <p:sldId id="272" r:id="rId7"/>
  </p:sldIdLst>
  <p:sldSz cx="10693400" cy="7561263"/>
  <p:notesSz cx="9874250" cy="6797675"/>
  <p:defaultTextStyle>
    <a:defPPr>
      <a:defRPr lang="ko-KR"/>
    </a:defPPr>
    <a:lvl1pPr marL="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84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69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53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38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22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07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4916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2761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7405"/>
    <a:srgbClr val="E78B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9835" autoAdjust="0"/>
  </p:normalViewPr>
  <p:slideViewPr>
    <p:cSldViewPr>
      <p:cViewPr>
        <p:scale>
          <a:sx n="75" d="100"/>
          <a:sy n="75" d="100"/>
        </p:scale>
        <p:origin x="2268" y="438"/>
      </p:cViewPr>
      <p:guideLst>
        <p:guide orient="horz" pos="2382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65444-5612-4993-A297-66E4EA569180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92027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70AE1-31D9-4381-959D-9050CC0FE9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48306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6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3867D-DA73-4C30-B686-2D05E2BBC364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33725" y="509588"/>
            <a:ext cx="36068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6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A336D-49A4-4170-8C35-7E5BA4D4E5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4691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74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ko-KR" b="0" i="0" dirty="0">
                <a:effectLst/>
                <a:latin typeface="fkGrotesk"/>
              </a:rPr>
              <a:t>Transition Matrix &amp; Trajectory Grouping with </a:t>
            </a:r>
            <a:r>
              <a:rPr lang="en-US" altLang="ko-KR" b="0" i="0" dirty="0">
                <a:effectLst/>
                <a:latin typeface="fkGroteskNeue"/>
              </a:rPr>
              <a:t>Participants with ≥2 longitudinal visits (N=349)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59901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ko-KR" b="0" i="0" dirty="0">
                <a:effectLst/>
                <a:latin typeface="fkGrotesk"/>
              </a:rPr>
              <a:t>Transition Matrix &amp; Trajectory Grouping with </a:t>
            </a:r>
            <a:r>
              <a:rPr lang="en-US" altLang="ko-KR" b="0" i="0" dirty="0">
                <a:effectLst/>
                <a:latin typeface="fkGroteskNeue"/>
              </a:rPr>
              <a:t>Participants with ≥2 longitudinal visits (N=349)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16393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ko-KR" b="0" i="0" dirty="0">
                <a:effectLst/>
                <a:latin typeface="fkGrotesk"/>
              </a:rPr>
              <a:t>Transition Matrix &amp; Trajectory Grouping with </a:t>
            </a:r>
            <a:r>
              <a:rPr lang="en-US" altLang="ko-KR" b="0" i="0" dirty="0">
                <a:effectLst/>
                <a:latin typeface="fkGroteskNeue"/>
              </a:rPr>
              <a:t>Participants with ≥2 longitudinal visits (N=349)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9127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altLang="ko-KR" b="0" i="0" dirty="0">
                <a:effectLst/>
                <a:latin typeface="fkGrotesk"/>
              </a:rPr>
              <a:t>Transition Matrix &amp; Trajectory Grouping with </a:t>
            </a:r>
            <a:r>
              <a:rPr lang="en-US" altLang="ko-KR" b="0" i="0" dirty="0">
                <a:effectLst/>
                <a:latin typeface="fkGroteskNeue"/>
              </a:rPr>
              <a:t>Participants with ≥2 longitudinal visits (N=349)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6949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647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3EF1-6E1E-49A8-89C7-5D842E70784B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4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7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670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FB339-8C5D-44DF-A368-296A032EEE0C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3579" y="7008172"/>
            <a:ext cx="3386243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3603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lvl1pPr algn="ctr" defTabSz="995690" rtl="0" eaLnBrk="1" latinLnBrk="1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384" indent="-373384" algn="l" defTabSz="995690" rtl="0" eaLnBrk="1" latinLnBrk="1" hangingPunct="1">
        <a:spcBef>
          <a:spcPct val="20000"/>
        </a:spcBef>
        <a:buFont typeface="Arial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8998" indent="-311153" algn="l" defTabSz="995690" rtl="0" eaLnBrk="1" latinLnBrk="1" hangingPunct="1">
        <a:spcBef>
          <a:spcPct val="20000"/>
        </a:spcBef>
        <a:buFont typeface="Arial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61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458" indent="-248923" algn="l" defTabSz="995690" rtl="0" eaLnBrk="1" latinLnBrk="1" hangingPunct="1">
        <a:spcBef>
          <a:spcPct val="20000"/>
        </a:spcBef>
        <a:buFont typeface="Arial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303" indent="-248923" algn="l" defTabSz="995690" rtl="0" eaLnBrk="1" latinLnBrk="1" hangingPunct="1">
        <a:spcBef>
          <a:spcPct val="20000"/>
        </a:spcBef>
        <a:buFont typeface="Arial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14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599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383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168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84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69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53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38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22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07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4916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2761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274734" y="2700511"/>
            <a:ext cx="8215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altLang="ko-KR" sz="2800" b="1" i="0" dirty="0">
                <a:effectLst/>
                <a:latin typeface="fkGrotesk"/>
              </a:rPr>
              <a:t>Longitudinal Bio-Impedance Study in MCI Progression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75130" y="4140671"/>
            <a:ext cx="5214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altLang="ko-KR" b="1" dirty="0">
                <a:latin typeface="fkGrotesk"/>
              </a:rPr>
              <a:t>Lab Meeting </a:t>
            </a:r>
          </a:p>
          <a:p>
            <a:pPr algn="r"/>
            <a:r>
              <a:rPr lang="en-GB" altLang="ko-KR" sz="2000" i="0" dirty="0">
                <a:effectLst/>
                <a:latin typeface="fkGrotesk"/>
              </a:rPr>
              <a:t>2025.11.07</a:t>
            </a:r>
          </a:p>
        </p:txBody>
      </p:sp>
    </p:spTree>
    <p:extLst>
      <p:ext uri="{BB962C8B-B14F-4D97-AF65-F5344CB8AC3E}">
        <p14:creationId xmlns:p14="http://schemas.microsoft.com/office/powerpoint/2010/main" val="1962923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252239"/>
            <a:ext cx="6984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fkGroteskNeue"/>
              </a:rPr>
              <a:t>General Overview and Feasibility of Group Options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C0B9AF-8DD6-C8C4-2F3D-08BF35B684DA}"/>
              </a:ext>
            </a:extLst>
          </p:cNvPr>
          <p:cNvSpPr txBox="1"/>
          <p:nvPr/>
        </p:nvSpPr>
        <p:spPr>
          <a:xfrm>
            <a:off x="594172" y="972319"/>
            <a:ext cx="784887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altLang="ko-KR" b="1" i="0" dirty="0">
                <a:effectLst/>
                <a:latin typeface="fkGroteskNeue"/>
              </a:rPr>
              <a:t>Preprocessing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Multiple imputation for missing data (MICE/PMM) in SNSB domains by diagnosis group.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Exclude: Invalid/missing BIA/cognitive status data, age &lt; 55, </a:t>
            </a:r>
            <a:r>
              <a:rPr lang="en-US" altLang="ko-KR" b="0" i="0" dirty="0">
                <a:effectLst/>
                <a:latin typeface="fkGroteskNeue"/>
              </a:rPr>
              <a:t>retain only valid cognitive groups (CN, MCI, AD).</a:t>
            </a:r>
            <a:endParaRPr lang="en-GB" altLang="ko-KR" b="0" i="0" dirty="0">
              <a:effectLst/>
              <a:latin typeface="fkGroteskNeue"/>
            </a:endParaRP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QC: Remove constant/invalid impedance, outliers (3×IQR), require key BIA at 50 kHz in all segments.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3A2879-33A3-C966-84F9-F1D80028403A}"/>
              </a:ext>
            </a:extLst>
          </p:cNvPr>
          <p:cNvSpPr txBox="1"/>
          <p:nvPr/>
        </p:nvSpPr>
        <p:spPr>
          <a:xfrm>
            <a:off x="594172" y="3780631"/>
            <a:ext cx="72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ko-KR" b="1" i="0" dirty="0">
                <a:effectLst/>
                <a:latin typeface="fkGroteskNeue"/>
              </a:rPr>
              <a:t>Participants with ≥2 longitudinal visits (N=349)</a:t>
            </a:r>
            <a:endParaRPr lang="ko-KR" altLang="en-US" b="1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291EBBE-3FB8-715B-94E7-25474F0D39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485731"/>
              </p:ext>
            </p:extLst>
          </p:nvPr>
        </p:nvGraphicFramePr>
        <p:xfrm>
          <a:off x="735013" y="4429850"/>
          <a:ext cx="8716145" cy="2286000"/>
        </p:xfrm>
        <a:graphic>
          <a:graphicData uri="http://schemas.openxmlformats.org/drawingml/2006/table">
            <a:tbl>
              <a:tblPr/>
              <a:tblGrid>
                <a:gridCol w="1743229">
                  <a:extLst>
                    <a:ext uri="{9D8B030D-6E8A-4147-A177-3AD203B41FA5}">
                      <a16:colId xmlns:a16="http://schemas.microsoft.com/office/drawing/2014/main" val="190368076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498660905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470567782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3912110096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21592316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ko-KR" altLang="en-US" b="1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AD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CN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MCI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Total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03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AD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0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59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CN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0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218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239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720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MCI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42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59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108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60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Total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260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81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349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6664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7017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AFB34F53-0FEA-08FB-4778-0DCF2501E202}"/>
              </a:ext>
            </a:extLst>
          </p:cNvPr>
          <p:cNvSpPr/>
          <p:nvPr/>
        </p:nvSpPr>
        <p:spPr>
          <a:xfrm>
            <a:off x="4554614" y="3996655"/>
            <a:ext cx="4779724" cy="10542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7589E3D-9DC0-4016-A9B9-C40F430A0C4A}"/>
              </a:ext>
            </a:extLst>
          </p:cNvPr>
          <p:cNvSpPr/>
          <p:nvPr/>
        </p:nvSpPr>
        <p:spPr>
          <a:xfrm>
            <a:off x="5850756" y="1476375"/>
            <a:ext cx="3312368" cy="8640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171BB1E-9927-01B8-86BB-C4B88F9C552C}"/>
              </a:ext>
            </a:extLst>
          </p:cNvPr>
          <p:cNvSpPr/>
          <p:nvPr/>
        </p:nvSpPr>
        <p:spPr>
          <a:xfrm>
            <a:off x="378148" y="2462016"/>
            <a:ext cx="3024336" cy="8640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36A7BCF-82DC-E33B-5156-F2DCC85A55F2}"/>
              </a:ext>
            </a:extLst>
          </p:cNvPr>
          <p:cNvSpPr/>
          <p:nvPr/>
        </p:nvSpPr>
        <p:spPr>
          <a:xfrm>
            <a:off x="378148" y="1476375"/>
            <a:ext cx="3024336" cy="8640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252239"/>
            <a:ext cx="6984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fkGroteskNeue"/>
              </a:rPr>
              <a:t>General Overview and Feasibility of Group Options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C0B9AF-8DD6-C8C4-2F3D-08BF35B684DA}"/>
              </a:ext>
            </a:extLst>
          </p:cNvPr>
          <p:cNvSpPr txBox="1"/>
          <p:nvPr/>
        </p:nvSpPr>
        <p:spPr>
          <a:xfrm>
            <a:off x="695493" y="1044327"/>
            <a:ext cx="3168352" cy="3699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altLang="ko-KR" b="1" i="0" dirty="0">
                <a:effectLst/>
                <a:latin typeface="fkGroteskNeue"/>
              </a:rPr>
              <a:t>Trajectory-Defined Groups: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Stable CN: 218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CN→MCI: 21</a:t>
            </a:r>
          </a:p>
          <a:p>
            <a:pPr algn="l">
              <a:lnSpc>
                <a:spcPct val="150000"/>
              </a:lnSpc>
            </a:pPr>
            <a:endParaRPr lang="en-GB" altLang="ko-KR" sz="300" b="0" i="0" dirty="0">
              <a:effectLst/>
              <a:latin typeface="fkGroteskNeue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Stable MCI: 59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MCI→CN: 42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MCI→AD: 7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Stable AD: 1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AD→MCI: 1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9DCC503-C205-714C-8B73-7423F599D696}"/>
              </a:ext>
            </a:extLst>
          </p:cNvPr>
          <p:cNvCxnSpPr>
            <a:cxnSpLocks/>
          </p:cNvCxnSpPr>
          <p:nvPr/>
        </p:nvCxnSpPr>
        <p:spPr>
          <a:xfrm>
            <a:off x="3402484" y="1908423"/>
            <a:ext cx="230425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9D16178-2A61-41AF-59A1-D8C00D0F6B1B}"/>
              </a:ext>
            </a:extLst>
          </p:cNvPr>
          <p:cNvSpPr txBox="1"/>
          <p:nvPr/>
        </p:nvSpPr>
        <p:spPr>
          <a:xfrm>
            <a:off x="3690516" y="1263572"/>
            <a:ext cx="2160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ko-KR" sz="1600" b="0" i="0" dirty="0">
                <a:effectLst/>
                <a:latin typeface="fkGroteskNeue"/>
              </a:rPr>
              <a:t>+ intermediate   converters (6 subjects)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875329-8459-AE1B-3F7C-0C9A1BC1AD33}"/>
              </a:ext>
            </a:extLst>
          </p:cNvPr>
          <p:cNvSpPr txBox="1"/>
          <p:nvPr/>
        </p:nvSpPr>
        <p:spPr>
          <a:xfrm>
            <a:off x="5994774" y="1364368"/>
            <a:ext cx="2304256" cy="967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effectLst/>
                <a:latin typeface="fkGroteskNeue"/>
              </a:rPr>
              <a:t>Stable CN: 218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effectLst/>
                <a:latin typeface="fkGroteskNeue"/>
              </a:rPr>
              <a:t>CN→MCI: </a:t>
            </a:r>
            <a:r>
              <a:rPr lang="fr-FR" altLang="ko-KR" b="1" i="0" dirty="0">
                <a:effectLst/>
                <a:latin typeface="fkGroteskNeue"/>
              </a:rPr>
              <a:t>27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A798F5-045D-12D6-F70C-6F5FF1935A13}"/>
              </a:ext>
            </a:extLst>
          </p:cNvPr>
          <p:cNvSpPr txBox="1"/>
          <p:nvPr/>
        </p:nvSpPr>
        <p:spPr>
          <a:xfrm>
            <a:off x="4770639" y="3996655"/>
            <a:ext cx="4977596" cy="967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effectLst/>
                <a:latin typeface="fkGroteskNeue"/>
              </a:rPr>
              <a:t>Stable CN (CN→NC): 209 (89.3%)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effectLst/>
                <a:latin typeface="fkGroteskNeue"/>
              </a:rPr>
              <a:t>Progressive CN (CN→MCI):</a:t>
            </a:r>
            <a:r>
              <a:rPr lang="fr-FR" altLang="ko-KR" i="0" dirty="0">
                <a:effectLst/>
                <a:latin typeface="fkGroteskNeue"/>
              </a:rPr>
              <a:t> </a:t>
            </a:r>
            <a:r>
              <a:rPr lang="fr-FR" altLang="ko-KR" dirty="0">
                <a:latin typeface="fkGroteskNeue"/>
              </a:rPr>
              <a:t>25 (10.7%)</a:t>
            </a:r>
            <a:endParaRPr lang="fr-FR" altLang="ko-KR" i="0" dirty="0">
              <a:effectLst/>
              <a:latin typeface="fkGroteskNeue"/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0F57609-F7A3-9E41-FD4A-05350A050EDA}"/>
              </a:ext>
            </a:extLst>
          </p:cNvPr>
          <p:cNvCxnSpPr>
            <a:cxnSpLocks/>
          </p:cNvCxnSpPr>
          <p:nvPr/>
        </p:nvCxnSpPr>
        <p:spPr>
          <a:xfrm>
            <a:off x="7506940" y="2352007"/>
            <a:ext cx="0" cy="150063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B71424F-06E1-0413-6334-D0282F60581F}"/>
              </a:ext>
            </a:extLst>
          </p:cNvPr>
          <p:cNvSpPr txBox="1"/>
          <p:nvPr/>
        </p:nvSpPr>
        <p:spPr>
          <a:xfrm>
            <a:off x="7578948" y="2809935"/>
            <a:ext cx="21692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fkGroteskNeue"/>
              </a:rPr>
              <a:t>Excluded subjects with &lt;11 months follow-up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2484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252239"/>
            <a:ext cx="6984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fkGroteskNeue"/>
              </a:rPr>
              <a:t>General Overview and Feasibility of Group Options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A02AEFA-6F11-BB47-E3BA-AEC2CFFF5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132" y="805814"/>
            <a:ext cx="4779507" cy="621517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45566E8-780E-192A-1AB9-69D28AA320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9763" y="810101"/>
            <a:ext cx="4392488" cy="6498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84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252239"/>
            <a:ext cx="6984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fkGroteskNeue"/>
              </a:rPr>
              <a:t>General Overview and Feasibility of Group Options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145558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274734" y="2700511"/>
            <a:ext cx="8215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 i="0" dirty="0">
                <a:solidFill>
                  <a:schemeClr val="tx2"/>
                </a:solidFill>
                <a:effectLst/>
                <a:latin typeface="fkGrotesk"/>
              </a:rPr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2975736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</TotalTime>
  <Words>294</Words>
  <Application>Microsoft Office PowerPoint</Application>
  <PresentationFormat>사용자 지정</PresentationFormat>
  <Paragraphs>56</Paragraphs>
  <Slides>6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3" baseType="lpstr">
      <vt:lpstr>fkGrotesk</vt:lpstr>
      <vt:lpstr>fkGroteskNeue</vt:lpstr>
      <vt:lpstr>HY견고딕</vt:lpstr>
      <vt:lpstr>HY중고딕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SP3 FINAL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KIOM_USER</cp:lastModifiedBy>
  <cp:revision>45</cp:revision>
  <cp:lastPrinted>2012-01-03T07:03:32Z</cp:lastPrinted>
  <dcterms:created xsi:type="dcterms:W3CDTF">2011-12-29T06:45:05Z</dcterms:created>
  <dcterms:modified xsi:type="dcterms:W3CDTF">2025-11-07T02:57:21Z</dcterms:modified>
</cp:coreProperties>
</file>