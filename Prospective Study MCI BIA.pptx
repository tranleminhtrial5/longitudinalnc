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2" r:id="rId9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6056" autoAdjust="0"/>
  </p:normalViewPr>
  <p:slideViewPr>
    <p:cSldViewPr>
      <p:cViewPr varScale="1">
        <p:scale>
          <a:sx n="44" d="100"/>
          <a:sy n="44" d="100"/>
        </p:scale>
        <p:origin x="80" y="40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This week, I learned from R scripts provided by </a:t>
            </a:r>
            <a:r>
              <a:rPr lang="en-US" dirty="0" err="1"/>
              <a:t>DieuNi</a:t>
            </a:r>
            <a:r>
              <a:rPr lang="en-US" dirty="0"/>
              <a:t> and Joel. After that, I started </a:t>
            </a:r>
            <a:r>
              <a:rPr lang="en-US" b="1" dirty="0"/>
              <a:t>Preprocessing</a:t>
            </a:r>
            <a:r>
              <a:rPr lang="en-US" dirty="0"/>
              <a:t> with</a:t>
            </a:r>
          </a:p>
          <a:p>
            <a:pPr algn="l"/>
            <a:endParaRPr lang="en-US" altLang="ko-KR" b="0" i="0" dirty="0">
              <a:effectLst/>
              <a:latin typeface="fkGrotesk"/>
            </a:endParaRPr>
          </a:p>
          <a:p>
            <a:pPr algn="l"/>
            <a:r>
              <a:rPr lang="en-US" dirty="0"/>
              <a:t>Next, I started filtering for participants who had </a:t>
            </a:r>
            <a:r>
              <a:rPr lang="en-US" b="1" dirty="0"/>
              <a:t>two or more longitudinal visits</a:t>
            </a:r>
            <a:r>
              <a:rPr lang="en-US" dirty="0"/>
              <a:t>, resulting in a total of </a:t>
            </a:r>
            <a:r>
              <a:rPr lang="en-US" b="1" dirty="0"/>
              <a:t>349 participants</a:t>
            </a:r>
            <a:r>
              <a:rPr lang="en-US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9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are the subgroups. I will begin with </a:t>
            </a:r>
            <a:r>
              <a:rPr lang="en-US" b="1" dirty="0"/>
              <a:t>Stable CN</a:t>
            </a:r>
            <a:r>
              <a:rPr lang="en-US" dirty="0"/>
              <a:t> (Cognitively Normal) and </a:t>
            </a:r>
            <a:r>
              <a:rPr lang="en-US" b="1" dirty="0"/>
              <a:t>Progressive CN</a:t>
            </a:r>
            <a:r>
              <a:rPr lang="en-US" dirty="0"/>
              <a:t>. However, the sample size for Progressive CN is quite small. Therefore, I'm including </a:t>
            </a:r>
            <a:r>
              <a:rPr lang="en-US" b="1" dirty="0"/>
              <a:t>intermediate converters</a:t>
            </a:r>
            <a:r>
              <a:rPr lang="en-US" dirty="0"/>
              <a:t> to add </a:t>
            </a:r>
            <a:r>
              <a:rPr lang="en-US" b="1" dirty="0"/>
              <a:t>6 subjects</a:t>
            </a:r>
            <a:r>
              <a:rPr lang="en-US" dirty="0"/>
              <a:t>, increasing the current number to </a:t>
            </a:r>
            <a:r>
              <a:rPr lang="en-US" b="1" dirty="0"/>
              <a:t>27</a:t>
            </a:r>
            <a:r>
              <a:rPr lang="en-US" dirty="0"/>
              <a:t>. I then filtered further by excluding subjects with less than </a:t>
            </a:r>
            <a:r>
              <a:rPr lang="en-US" b="1" dirty="0"/>
              <a:t>11 months</a:t>
            </a:r>
            <a:r>
              <a:rPr lang="en-US" dirty="0"/>
              <a:t> of follow-up. The current total is </a:t>
            </a:r>
            <a:r>
              <a:rPr lang="en-US" b="1" dirty="0"/>
              <a:t>25</a:t>
            </a:r>
            <a:r>
              <a:rPr lang="en-US" dirty="0"/>
              <a:t>.</a:t>
            </a:r>
          </a:p>
          <a:p>
            <a:endParaRPr lang="en-US" altLang="ko-KR" dirty="0"/>
          </a:p>
          <a:p>
            <a:r>
              <a:rPr lang="en-US" dirty="0"/>
              <a:t>I would like to ask the professor for an opinion on the </a:t>
            </a:r>
            <a:r>
              <a:rPr lang="en-US" b="1" dirty="0"/>
              <a:t>11-month filtering threshold</a:t>
            </a:r>
            <a:r>
              <a:rPr lang="en-US" dirty="0"/>
              <a:t>. I believe that below this threshold, specifically, there are </a:t>
            </a:r>
            <a:r>
              <a:rPr lang="en-US" b="1" dirty="0"/>
              <a:t>some subjects with a follow-up duration of 3 to 6 or 8 months</a:t>
            </a:r>
            <a:r>
              <a:rPr lang="en-US" dirty="0"/>
              <a:t>. Is that cutoff appropriate?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1639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I proceeded to </a:t>
            </a:r>
            <a:r>
              <a:rPr lang="en-US" b="1" dirty="0"/>
              <a:t>compare the two groups at baseline</a:t>
            </a:r>
            <a:r>
              <a:rPr lang="en-US" dirty="0"/>
              <a:t>. I first performed the </a:t>
            </a:r>
            <a:r>
              <a:rPr lang="en-US" b="1" dirty="0"/>
              <a:t>Shapiro test</a:t>
            </a:r>
            <a:r>
              <a:rPr lang="en-US" dirty="0"/>
              <a:t>, and then selected either the </a:t>
            </a:r>
            <a:r>
              <a:rPr lang="en-US" b="1" dirty="0"/>
              <a:t>t-test</a:t>
            </a:r>
            <a:r>
              <a:rPr lang="en-US" dirty="0"/>
              <a:t> or the </a:t>
            </a:r>
            <a:r>
              <a:rPr lang="en-US" b="1" dirty="0"/>
              <a:t>U-test</a:t>
            </a:r>
            <a:r>
              <a:rPr lang="en-US" dirty="0"/>
              <a:t> for each </a:t>
            </a:r>
            <a:r>
              <a:rPr lang="en-US" b="1" dirty="0"/>
              <a:t>continuous variable</a:t>
            </a:r>
            <a:r>
              <a:rPr lang="en-US" dirty="0"/>
              <a:t>, and the </a:t>
            </a:r>
            <a:r>
              <a:rPr lang="en-US" b="1" dirty="0"/>
              <a:t>Chi-squared test</a:t>
            </a:r>
            <a:r>
              <a:rPr lang="en-US" dirty="0"/>
              <a:t> for the </a:t>
            </a:r>
            <a:r>
              <a:rPr lang="en-US" b="1" dirty="0"/>
              <a:t>categorical variables</a:t>
            </a:r>
            <a:r>
              <a:rPr lang="en-US" dirty="0"/>
              <a:t>.</a:t>
            </a:r>
          </a:p>
          <a:p>
            <a:endParaRPr lang="en-US" altLang="ko-KR" dirty="0"/>
          </a:p>
          <a:p>
            <a:r>
              <a:rPr lang="en-US" dirty="0"/>
              <a:t>The preliminary show </a:t>
            </a:r>
            <a:r>
              <a:rPr lang="en-US" b="1" dirty="0"/>
              <a:t>statistically significant differences</a:t>
            </a:r>
            <a:r>
              <a:rPr lang="en-US" dirty="0"/>
              <a:t> in </a:t>
            </a:r>
            <a:r>
              <a:rPr lang="en-US" b="1" dirty="0"/>
              <a:t>height</a:t>
            </a:r>
            <a:r>
              <a:rPr lang="en-US" dirty="0"/>
              <a:t> and </a:t>
            </a:r>
            <a:r>
              <a:rPr lang="en-US" b="1" dirty="0"/>
              <a:t>years of education</a:t>
            </a:r>
            <a:r>
              <a:rPr lang="en-US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127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Next, I used </a:t>
            </a:r>
            <a:r>
              <a:rPr lang="en-US" b="1" dirty="0"/>
              <a:t>ANCOVA</a:t>
            </a:r>
            <a:r>
              <a:rPr lang="en-US" dirty="0"/>
              <a:t> to </a:t>
            </a:r>
            <a:r>
              <a:rPr lang="en-US" b="1" dirty="0"/>
              <a:t>evaluate the BIA variables between the two groups upon</a:t>
            </a:r>
            <a:r>
              <a:rPr lang="en-US" dirty="0">
                <a:latin typeface="fkGrotesk"/>
              </a:rPr>
              <a:t> controlling for age, sex, education &amp; GDS score</a:t>
            </a:r>
            <a:r>
              <a:rPr lang="en-US" dirty="0"/>
              <a:t>, as shown in </a:t>
            </a:r>
            <a:r>
              <a:rPr lang="en-US" b="1" dirty="0"/>
              <a:t>Tables 2 and 3</a:t>
            </a:r>
            <a:r>
              <a:rPr lang="en-US" dirty="0"/>
              <a:t>. Currently, the only baseline difference is observed in </a:t>
            </a:r>
            <a:r>
              <a:rPr lang="en-US" b="1" dirty="0"/>
              <a:t>Water Lean (upper)</a:t>
            </a:r>
            <a:r>
              <a:rPr lang="en-US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694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F39C-441D-FA28-4E72-06E6B1A1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A21CD1-C119-4244-2AEF-06F6B6C8F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AE7CA-1C92-E027-DFF0-738761147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9207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E16D-2BE5-6629-074D-05C86399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16EDE7-7DA9-47BE-33DC-1922DB253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616F2-2512-BE7B-6958-3C1125822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week, I will continue the data analysis using </a:t>
            </a:r>
            <a:r>
              <a:rPr lang="en-US" b="1" dirty="0"/>
              <a:t>Linear Mixed Effects (LME)</a:t>
            </a:r>
            <a:r>
              <a:rPr lang="en-US" dirty="0"/>
              <a:t> models.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350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4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4734" y="2700511"/>
            <a:ext cx="821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ko-KR" sz="2800" b="1" i="0" dirty="0">
                <a:effectLst/>
                <a:latin typeface="fkGrotesk"/>
              </a:rPr>
              <a:t>Longitudinal Bio-Impedance Study in cognitive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5130" y="4140671"/>
            <a:ext cx="5214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altLang="ko-KR" b="1" dirty="0">
                <a:latin typeface="fkGrotesk"/>
              </a:rPr>
              <a:t>Lab Meeting </a:t>
            </a:r>
          </a:p>
          <a:p>
            <a:pPr algn="r"/>
            <a:r>
              <a:rPr lang="en-GB" altLang="ko-KR" sz="2000" i="0" dirty="0">
                <a:effectLst/>
                <a:latin typeface="fkGrotesk"/>
              </a:rPr>
              <a:t>2025.11.07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fkGroteskNeue"/>
              </a:rPr>
              <a:t>General Overview and Feasibility of Group Options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0B9AF-8DD6-C8C4-2F3D-08BF35B684DA}"/>
              </a:ext>
            </a:extLst>
          </p:cNvPr>
          <p:cNvSpPr txBox="1"/>
          <p:nvPr/>
        </p:nvSpPr>
        <p:spPr>
          <a:xfrm>
            <a:off x="594172" y="972319"/>
            <a:ext cx="78488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altLang="ko-KR" b="1" i="0" dirty="0">
                <a:effectLst/>
                <a:latin typeface="fkGroteskNeue"/>
              </a:rPr>
              <a:t>Preprocessing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ko-KR" b="0" i="0" dirty="0">
                <a:effectLst/>
                <a:latin typeface="fkGroteskNeue"/>
              </a:rPr>
              <a:t>Multiple imputation for missing data (MICE/PMM) in SNSB domains by diagnosis group.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ko-KR" b="0" i="0" dirty="0">
                <a:effectLst/>
                <a:latin typeface="fkGroteskNeue"/>
              </a:rPr>
              <a:t>Exclude: Invalid/missing BIA/cognitive status data, age &lt; 55, </a:t>
            </a:r>
            <a:r>
              <a:rPr lang="en-US" altLang="ko-KR" b="0" i="0" dirty="0">
                <a:effectLst/>
                <a:latin typeface="fkGroteskNeue"/>
              </a:rPr>
              <a:t>retain only valid cognitive groups (CN, MCI, AD).</a:t>
            </a:r>
            <a:endParaRPr lang="en-GB" altLang="ko-KR" b="0" i="0" dirty="0">
              <a:effectLst/>
              <a:latin typeface="fkGrotesk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A2879-33A3-C966-84F9-F1D80028403A}"/>
              </a:ext>
            </a:extLst>
          </p:cNvPr>
          <p:cNvSpPr txBox="1"/>
          <p:nvPr/>
        </p:nvSpPr>
        <p:spPr>
          <a:xfrm>
            <a:off x="594172" y="3780631"/>
            <a:ext cx="72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b="1" i="0" dirty="0">
                <a:effectLst/>
                <a:latin typeface="fkGroteskNeue"/>
              </a:rPr>
              <a:t>Participants with ≥2 longitudinal visits (N=349)</a:t>
            </a:r>
            <a:endParaRPr lang="ko-KR" altLang="en-US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291EBBE-3FB8-715B-94E7-25474F0D3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485731"/>
              </p:ext>
            </p:extLst>
          </p:nvPr>
        </p:nvGraphicFramePr>
        <p:xfrm>
          <a:off x="735013" y="4429850"/>
          <a:ext cx="8716145" cy="2286000"/>
        </p:xfrm>
        <a:graphic>
          <a:graphicData uri="http://schemas.openxmlformats.org/drawingml/2006/table">
            <a:tbl>
              <a:tblPr/>
              <a:tblGrid>
                <a:gridCol w="1743229">
                  <a:extLst>
                    <a:ext uri="{9D8B030D-6E8A-4147-A177-3AD203B41FA5}">
                      <a16:colId xmlns:a16="http://schemas.microsoft.com/office/drawing/2014/main" val="190368076"/>
                    </a:ext>
                  </a:extLst>
                </a:gridCol>
                <a:gridCol w="1743229">
                  <a:extLst>
                    <a:ext uri="{9D8B030D-6E8A-4147-A177-3AD203B41FA5}">
                      <a16:colId xmlns:a16="http://schemas.microsoft.com/office/drawing/2014/main" val="498660905"/>
                    </a:ext>
                  </a:extLst>
                </a:gridCol>
                <a:gridCol w="1743229">
                  <a:extLst>
                    <a:ext uri="{9D8B030D-6E8A-4147-A177-3AD203B41FA5}">
                      <a16:colId xmlns:a16="http://schemas.microsoft.com/office/drawing/2014/main" val="470567782"/>
                    </a:ext>
                  </a:extLst>
                </a:gridCol>
                <a:gridCol w="1743229">
                  <a:extLst>
                    <a:ext uri="{9D8B030D-6E8A-4147-A177-3AD203B41FA5}">
                      <a16:colId xmlns:a16="http://schemas.microsoft.com/office/drawing/2014/main" val="3912110096"/>
                    </a:ext>
                  </a:extLst>
                </a:gridCol>
                <a:gridCol w="1743229">
                  <a:extLst>
                    <a:ext uri="{9D8B030D-6E8A-4147-A177-3AD203B41FA5}">
                      <a16:colId xmlns:a16="http://schemas.microsoft.com/office/drawing/2014/main" val="2159231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ko-KR" altLang="en-US" b="1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CN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MCI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</a:rPr>
                        <a:t>Total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0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59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CN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218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21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239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72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MCI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42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59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108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60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Total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260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81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349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664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01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B34F53-0FEA-08FB-4778-0DCF2501E202}"/>
              </a:ext>
            </a:extLst>
          </p:cNvPr>
          <p:cNvSpPr/>
          <p:nvPr/>
        </p:nvSpPr>
        <p:spPr>
          <a:xfrm>
            <a:off x="4876362" y="3504135"/>
            <a:ext cx="4779724" cy="1054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589E3D-9DC0-4016-A9B9-C40F430A0C4A}"/>
              </a:ext>
            </a:extLst>
          </p:cNvPr>
          <p:cNvSpPr/>
          <p:nvPr/>
        </p:nvSpPr>
        <p:spPr>
          <a:xfrm>
            <a:off x="5850756" y="1476375"/>
            <a:ext cx="3312368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71BB1E-9927-01B8-86BB-C4B88F9C552C}"/>
              </a:ext>
            </a:extLst>
          </p:cNvPr>
          <p:cNvSpPr/>
          <p:nvPr/>
        </p:nvSpPr>
        <p:spPr>
          <a:xfrm>
            <a:off x="378148" y="2462016"/>
            <a:ext cx="302433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6A7BCF-82DC-E33B-5156-F2DCC85A55F2}"/>
              </a:ext>
            </a:extLst>
          </p:cNvPr>
          <p:cNvSpPr/>
          <p:nvPr/>
        </p:nvSpPr>
        <p:spPr>
          <a:xfrm>
            <a:off x="378148" y="1476375"/>
            <a:ext cx="302433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fkGroteskNeue"/>
              </a:rPr>
              <a:t>General Overview and Feasibility of Group Options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0B9AF-8DD6-C8C4-2F3D-08BF35B684DA}"/>
              </a:ext>
            </a:extLst>
          </p:cNvPr>
          <p:cNvSpPr txBox="1"/>
          <p:nvPr/>
        </p:nvSpPr>
        <p:spPr>
          <a:xfrm>
            <a:off x="695494" y="1048874"/>
            <a:ext cx="3168352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altLang="ko-KR" b="1" i="0" dirty="0">
                <a:effectLst/>
                <a:latin typeface="fkGroteskNeue"/>
              </a:rPr>
              <a:t>Trajectory-Defined Groups: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solidFill>
                  <a:schemeClr val="tx2"/>
                </a:solidFill>
                <a:effectLst/>
                <a:latin typeface="fkGroteskNeue"/>
              </a:rPr>
              <a:t>Stable CN: 218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solidFill>
                  <a:schemeClr val="tx2"/>
                </a:solidFill>
                <a:effectLst/>
                <a:latin typeface="fkGroteskNeue"/>
              </a:rPr>
              <a:t>CN→MCI: 21</a:t>
            </a:r>
          </a:p>
          <a:p>
            <a:pPr algn="l">
              <a:lnSpc>
                <a:spcPct val="150000"/>
              </a:lnSpc>
            </a:pPr>
            <a:endParaRPr lang="en-GB" altLang="ko-KR" sz="300" b="0" i="0" dirty="0">
              <a:effectLst/>
              <a:latin typeface="fkGroteskNeue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solidFill>
                  <a:schemeClr val="tx2"/>
                </a:solidFill>
                <a:effectLst/>
                <a:latin typeface="fkGroteskNeue"/>
              </a:rPr>
              <a:t>Stable MCI: 59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solidFill>
                  <a:schemeClr val="tx2"/>
                </a:solidFill>
                <a:effectLst/>
                <a:latin typeface="fkGroteskNeue"/>
              </a:rPr>
              <a:t>MCI→CN: 42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effectLst/>
                <a:latin typeface="fkGroteskNeue"/>
              </a:rPr>
              <a:t>MCI→AD: 7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effectLst/>
                <a:latin typeface="fkGroteskNeue"/>
              </a:rPr>
              <a:t>Stable AD: 1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ko-KR" b="0" i="0" dirty="0">
                <a:effectLst/>
                <a:latin typeface="fkGroteskNeue"/>
              </a:rPr>
              <a:t>AD→MCI: 1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9DCC503-C205-714C-8B73-7423F599D696}"/>
              </a:ext>
            </a:extLst>
          </p:cNvPr>
          <p:cNvCxnSpPr>
            <a:cxnSpLocks/>
          </p:cNvCxnSpPr>
          <p:nvPr/>
        </p:nvCxnSpPr>
        <p:spPr>
          <a:xfrm>
            <a:off x="3402484" y="1908423"/>
            <a:ext cx="23042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D16178-2A61-41AF-59A1-D8C00D0F6B1B}"/>
              </a:ext>
            </a:extLst>
          </p:cNvPr>
          <p:cNvSpPr txBox="1"/>
          <p:nvPr/>
        </p:nvSpPr>
        <p:spPr>
          <a:xfrm>
            <a:off x="3690516" y="1263572"/>
            <a:ext cx="2160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ko-KR" sz="1600" b="0" i="0" dirty="0">
                <a:effectLst/>
                <a:latin typeface="fkGroteskNeue"/>
              </a:rPr>
              <a:t>+ intermediate   converters (6 subjects)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75329-8459-AE1B-3F7C-0C9A1BC1AD33}"/>
              </a:ext>
            </a:extLst>
          </p:cNvPr>
          <p:cNvSpPr txBox="1"/>
          <p:nvPr/>
        </p:nvSpPr>
        <p:spPr>
          <a:xfrm>
            <a:off x="5994774" y="1364368"/>
            <a:ext cx="2304256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ko-KR" b="0" i="0" dirty="0">
                <a:solidFill>
                  <a:schemeClr val="tx2"/>
                </a:solidFill>
                <a:effectLst/>
                <a:latin typeface="fkGroteskNeue"/>
              </a:rPr>
              <a:t>Stable CN: 218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ko-KR" b="0" i="0" dirty="0">
                <a:solidFill>
                  <a:schemeClr val="tx2"/>
                </a:solidFill>
                <a:effectLst/>
                <a:latin typeface="fkGroteskNeue"/>
              </a:rPr>
              <a:t>CN→MCI: </a:t>
            </a:r>
            <a:r>
              <a:rPr lang="fr-FR" altLang="ko-KR" b="1" i="0" dirty="0">
                <a:solidFill>
                  <a:schemeClr val="tx2"/>
                </a:solidFill>
                <a:effectLst/>
                <a:latin typeface="fkGroteskNeue"/>
              </a:rPr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A798F5-045D-12D6-F70C-6F5FF1935A13}"/>
              </a:ext>
            </a:extLst>
          </p:cNvPr>
          <p:cNvSpPr txBox="1"/>
          <p:nvPr/>
        </p:nvSpPr>
        <p:spPr>
          <a:xfrm>
            <a:off x="5092387" y="3504135"/>
            <a:ext cx="4977596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ko-KR" b="0" i="0" dirty="0">
                <a:solidFill>
                  <a:schemeClr val="tx2"/>
                </a:solidFill>
                <a:effectLst/>
                <a:latin typeface="fkGroteskNeue"/>
              </a:rPr>
              <a:t>Stable CN (CN→NC): 209 (89.3%)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ko-KR" b="0" i="0" dirty="0">
                <a:solidFill>
                  <a:schemeClr val="tx2"/>
                </a:solidFill>
                <a:effectLst/>
                <a:latin typeface="fkGroteskNeue"/>
              </a:rPr>
              <a:t>Progressive CN (CN→MCI):</a:t>
            </a:r>
            <a:r>
              <a:rPr lang="fr-FR" altLang="ko-KR" i="0" dirty="0">
                <a:solidFill>
                  <a:schemeClr val="tx2"/>
                </a:solidFill>
                <a:effectLst/>
                <a:latin typeface="fkGroteskNeue"/>
              </a:rPr>
              <a:t> </a:t>
            </a:r>
            <a:r>
              <a:rPr lang="fr-FR" altLang="ko-KR" b="1" dirty="0">
                <a:solidFill>
                  <a:schemeClr val="tx2"/>
                </a:solidFill>
                <a:latin typeface="fkGroteskNeue"/>
              </a:rPr>
              <a:t>25</a:t>
            </a:r>
            <a:r>
              <a:rPr lang="fr-FR" altLang="ko-KR" dirty="0">
                <a:solidFill>
                  <a:schemeClr val="tx2"/>
                </a:solidFill>
                <a:latin typeface="fkGroteskNeue"/>
              </a:rPr>
              <a:t> (10.7%)</a:t>
            </a:r>
            <a:endParaRPr lang="fr-FR" altLang="ko-KR" i="0" dirty="0">
              <a:solidFill>
                <a:schemeClr val="tx2"/>
              </a:solidFill>
              <a:effectLst/>
              <a:latin typeface="fkGroteskNeue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0F57609-F7A3-9E41-FD4A-05350A050EDA}"/>
              </a:ext>
            </a:extLst>
          </p:cNvPr>
          <p:cNvCxnSpPr>
            <a:cxnSpLocks/>
          </p:cNvCxnSpPr>
          <p:nvPr/>
        </p:nvCxnSpPr>
        <p:spPr>
          <a:xfrm>
            <a:off x="7506940" y="2352007"/>
            <a:ext cx="0" cy="974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B71424F-06E1-0413-6334-D0282F60581F}"/>
              </a:ext>
            </a:extLst>
          </p:cNvPr>
          <p:cNvSpPr txBox="1"/>
          <p:nvPr/>
        </p:nvSpPr>
        <p:spPr>
          <a:xfrm>
            <a:off x="7578948" y="2583787"/>
            <a:ext cx="21692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0" i="0" dirty="0">
                <a:effectLst/>
                <a:latin typeface="fkGroteskNeue"/>
              </a:rPr>
              <a:t>Excluded subjects with &lt;11 months follow-up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2484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25223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fkGroteskNeue"/>
              </a:rPr>
              <a:t>Table 1: </a:t>
            </a:r>
            <a:r>
              <a:rPr lang="en-US" altLang="ko-KR" i="0" dirty="0">
                <a:effectLst/>
                <a:latin typeface="fkGroteskNeue"/>
              </a:rPr>
              <a:t>Demographic at baseline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02AEFA-6F11-BB47-E3BA-AEC2CFFF5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396" y="685049"/>
            <a:ext cx="5111754" cy="66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8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74BAC-FB71-DDE8-7515-09A3532D89FA}"/>
              </a:ext>
            </a:extLst>
          </p:cNvPr>
          <p:cNvSpPr txBox="1"/>
          <p:nvPr/>
        </p:nvSpPr>
        <p:spPr>
          <a:xfrm>
            <a:off x="378148" y="180231"/>
            <a:ext cx="84969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fkGrotesk"/>
                <a:cs typeface="Arial" panose="020B0604020202020204" pitchFamily="34" charset="0"/>
              </a:rPr>
              <a:t>Table 2: </a:t>
            </a:r>
            <a:r>
              <a:rPr lang="en-US" dirty="0">
                <a:latin typeface="fkGrotesk"/>
              </a:rPr>
              <a:t>Anthropometry and whole-body composition in 2 groups upon controlling for age, sex, education &amp; GDS score in baseline.</a:t>
            </a:r>
            <a:endParaRPr lang="ko-KR" altLang="en-US" dirty="0">
              <a:latin typeface="fkGrotesk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AAA5F-9964-5C3B-C811-0C9C0A4D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77" y="1116335"/>
            <a:ext cx="1036464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5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032D-FFAD-6EE0-10BA-46200665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F24C78-840A-3DBC-0156-DF5978273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3410"/>
            <a:ext cx="10693400" cy="6385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9DF7FA-2F5F-7E95-B81A-BF70EA3DC4F7}"/>
              </a:ext>
            </a:extLst>
          </p:cNvPr>
          <p:cNvSpPr txBox="1"/>
          <p:nvPr/>
        </p:nvSpPr>
        <p:spPr>
          <a:xfrm>
            <a:off x="378148" y="195524"/>
            <a:ext cx="8280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fkGrotesk"/>
                <a:cs typeface="Arial" panose="020B0604020202020204" pitchFamily="34" charset="0"/>
              </a:rPr>
              <a:t>Table 3: </a:t>
            </a:r>
            <a:r>
              <a:rPr lang="en-US" dirty="0">
                <a:latin typeface="fkGrotesk"/>
              </a:rPr>
              <a:t>Segmental bioimpedance variables in 2 groups upon </a:t>
            </a:r>
          </a:p>
          <a:p>
            <a:r>
              <a:rPr lang="en-US" dirty="0">
                <a:latin typeface="fkGrotesk"/>
              </a:rPr>
              <a:t>controlling for age, sex, education &amp; GDS score in baseline</a:t>
            </a:r>
            <a:endParaRPr lang="ko-KR" altLang="en-US" dirty="0">
              <a:latin typeface="fkGrotesk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1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2185-3166-9446-2EBC-04A76CE7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260E4-01E4-776A-5CA6-208650672533}"/>
              </a:ext>
            </a:extLst>
          </p:cNvPr>
          <p:cNvSpPr txBox="1"/>
          <p:nvPr/>
        </p:nvSpPr>
        <p:spPr>
          <a:xfrm>
            <a:off x="378148" y="195524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fkGrotesk"/>
                <a:cs typeface="Arial" panose="020B0604020202020204" pitchFamily="34" charset="0"/>
              </a:rPr>
              <a:t>LINEAR MIXED EFFECTS (LME)</a:t>
            </a:r>
            <a:endParaRPr lang="ko-KR" altLang="en-US" b="1" dirty="0">
              <a:latin typeface="fkGrotesk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70B8D0-07F5-83A7-2B44-F702AAD3AF4A}"/>
              </a:ext>
            </a:extLst>
          </p:cNvPr>
          <p:cNvSpPr txBox="1"/>
          <p:nvPr/>
        </p:nvSpPr>
        <p:spPr>
          <a:xfrm>
            <a:off x="378148" y="1980431"/>
            <a:ext cx="10043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model &lt;- </a:t>
            </a:r>
            <a:r>
              <a:rPr lang="en-US" sz="2400" dirty="0" err="1"/>
              <a:t>lmer</a:t>
            </a:r>
            <a:r>
              <a:rPr lang="en-US" sz="2400" dirty="0"/>
              <a:t>(SPR ~ </a:t>
            </a:r>
            <a:r>
              <a:rPr lang="en-US" sz="2400" dirty="0" err="1">
                <a:solidFill>
                  <a:schemeClr val="accent1"/>
                </a:solidFill>
              </a:rPr>
              <a:t>elapsed_years</a:t>
            </a:r>
            <a:r>
              <a:rPr lang="en-US" sz="2400" dirty="0">
                <a:solidFill>
                  <a:schemeClr val="accent1"/>
                </a:solidFill>
              </a:rPr>
              <a:t>*</a:t>
            </a:r>
            <a:r>
              <a:rPr lang="en-US" sz="2400" dirty="0" err="1">
                <a:solidFill>
                  <a:schemeClr val="accent1"/>
                </a:solidFill>
              </a:rPr>
              <a:t>Change_Type</a:t>
            </a:r>
            <a:r>
              <a:rPr lang="en-US" sz="2400" dirty="0">
                <a:solidFill>
                  <a:schemeClr val="accent1"/>
                </a:solidFill>
              </a:rPr>
              <a:t> + AGE + SEX + EDUYR  </a:t>
            </a:r>
            <a:r>
              <a:rPr lang="en-US" sz="2400" dirty="0"/>
              <a:t>+  </a:t>
            </a:r>
            <a:r>
              <a:rPr lang="en-US" sz="2400" dirty="0">
                <a:solidFill>
                  <a:srgbClr val="FF0000"/>
                </a:solidFill>
              </a:rPr>
              <a:t>(1 + </a:t>
            </a:r>
            <a:r>
              <a:rPr lang="en-US" sz="2400" dirty="0" err="1">
                <a:solidFill>
                  <a:srgbClr val="FF0000"/>
                </a:solidFill>
              </a:rPr>
              <a:t>elapsed_years</a:t>
            </a:r>
            <a:r>
              <a:rPr lang="en-US" sz="2400" dirty="0">
                <a:solidFill>
                  <a:srgbClr val="FF0000"/>
                </a:solidFill>
              </a:rPr>
              <a:t>| USUBJID)</a:t>
            </a:r>
            <a:r>
              <a:rPr lang="en-US" sz="2400" dirty="0"/>
              <a:t>, data = data)</a:t>
            </a:r>
          </a:p>
        </p:txBody>
      </p:sp>
    </p:spTree>
    <p:extLst>
      <p:ext uri="{BB962C8B-B14F-4D97-AF65-F5344CB8AC3E}">
        <p14:creationId xmlns:p14="http://schemas.microsoft.com/office/powerpoint/2010/main" val="357773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4734" y="2700511"/>
            <a:ext cx="8215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i="0" dirty="0">
                <a:solidFill>
                  <a:schemeClr val="tx2"/>
                </a:solidFill>
                <a:effectLst/>
                <a:latin typeface="fkGrotesk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97573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560</Words>
  <Application>Microsoft Office PowerPoint</Application>
  <PresentationFormat>Custom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fkGrotesk</vt:lpstr>
      <vt:lpstr>fkGroteskNeue</vt:lpstr>
      <vt:lpstr>HY견고딕</vt:lpstr>
      <vt:lpstr>HY중고딕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Minh Tran</cp:lastModifiedBy>
  <cp:revision>50</cp:revision>
  <cp:lastPrinted>2012-01-03T07:03:32Z</cp:lastPrinted>
  <dcterms:created xsi:type="dcterms:W3CDTF">2011-12-29T06:45:05Z</dcterms:created>
  <dcterms:modified xsi:type="dcterms:W3CDTF">2025-11-07T04:57:38Z</dcterms:modified>
</cp:coreProperties>
</file>